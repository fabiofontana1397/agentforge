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60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86800" y="4754880"/>
            <a:ext cx="3502152" cy="21031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869680" y="36576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0" y="36576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332719" y="36576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064240" y="36576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0" y="117043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0" y="117043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332719" y="117043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064240" y="117043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869680" y="197510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601200" y="197510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332719" y="197510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064240" y="197510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869680" y="27797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01200" y="27797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332719" y="27797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064240" y="27797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69680" y="358444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01200" y="358444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332719" y="358444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064240" y="358444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869680" y="438912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601200" y="438912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32719" y="438912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064240" y="438912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869680" y="519379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601200" y="519379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332719" y="519379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064240" y="519379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869680" y="599846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601200" y="599846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332719" y="599846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1064240" y="599846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4360" y="1005840"/>
            <a:ext cx="3291840" cy="34747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" y="9875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🌿  INTELLIGENZA ARTIFICIALE PER NUTRIZIONISTI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1554480"/>
            <a:ext cx="7772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Palatino Linotype"/>
              </a:rPr>
              <a:t>Il tuo studio lavora</a:t>
            </a:r>
          </a:p>
          <a:p>
            <a:pPr algn="l"/>
            <a:r>
              <a:rPr sz="4800" b="1">
                <a:solidFill>
                  <a:srgbClr val="FFFFFF"/>
                </a:solidFill>
                <a:latin typeface="Palatino Linotype"/>
              </a:rPr>
              <a:t>anche quando sei</a:t>
            </a:r>
          </a:p>
          <a:p>
            <a:pPr algn="l"/>
            <a:r>
              <a:rPr sz="4800" b="1" i="1">
                <a:solidFill>
                  <a:srgbClr val="74C69D"/>
                </a:solidFill>
                <a:latin typeface="Palatino Linotype"/>
              </a:rPr>
              <a:t>offline.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420624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5B5B5"/>
                </a:solidFill>
                <a:latin typeface="Calibri"/>
              </a:rPr>
              <a:t>Tre agenti AI specializzati rispondono ai tuoi pazienti, gestiscono le FAQ e li accompagnano tra una visita e l'altra — esattamente come faresti tu.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NutriAgent AI  · 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32811" y="3196138"/>
            <a:ext cx="2610131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900" b="0" i="0" dirty="0">
                <a:solidFill>
                  <a:srgbClr val="1A1A1A"/>
                </a:solidFill>
                <a:latin typeface="Palatino Linotype"/>
              </a:rPr>
              <a:t>🥗</a:t>
            </a:r>
            <a:endParaRPr sz="6400" b="0" i="0" dirty="0">
              <a:solidFill>
                <a:srgbClr val="1A1A1A"/>
              </a:solidFill>
              <a:latin typeface="Palatino Linoty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4C69D"/>
                </a:solidFill>
                <a:latin typeface="Calibri"/>
              </a:rPr>
              <a:t>IL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alatino Linotype"/>
              </a:rPr>
              <a:t>Stai perdendo tempo nelle cose sbagliate.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3749039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3749039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Palatino Linotype"/>
              </a:rP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214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WhatsApp fuori orario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42032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Messaggi alle 22:30 che interrompono la tua vita privata ogni giorno.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463040"/>
            <a:ext cx="3749039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6240" y="1463040"/>
            <a:ext cx="3749039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Palatino Linotype"/>
              </a:rPr>
              <a:t>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214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Domande sempre uguali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542032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Spiegare macronutrienti e falsi miti a ogni nuovo paziente.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463040"/>
            <a:ext cx="3749039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463040"/>
            <a:ext cx="3749039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19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Palatino Linotype"/>
              </a:rPr>
              <a:t>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1214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Follow-up mancati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42032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Il paziente perde motivazione tra una visita e l'altra e abbandona.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794760"/>
            <a:ext cx="3749039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3794760"/>
            <a:ext cx="3749039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931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Palatino Linotype"/>
              </a:rP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531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Pre-screening manuale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73752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Raccogliere anamnesi prima della visita richiede tempo prezioso.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794760"/>
            <a:ext cx="3749039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06240" y="3794760"/>
            <a:ext cx="3749039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0" y="3931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Palatino Linotype"/>
              </a:rPr>
              <a:t>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4531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Gestione appuntamenti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873752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Email e messaggi ripetitivi senza aggiungere valore clinico.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3794760"/>
            <a:ext cx="3749039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92440" y="3794760"/>
            <a:ext cx="3749039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5319" y="3931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Palatino Linotype"/>
              </a:rPr>
              <a:t>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9" y="44531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Pazienti persi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4873752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Chi non riceve supporto abbandona. Ogni abbandono è entrate perse.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1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4C69D"/>
                </a:solidFill>
                <a:latin typeface="Calibri"/>
              </a:rPr>
              <a:t>LA SOLUZIONE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alatino Linotype"/>
              </a:rPr>
              <a:t>Tre agenti AI. Uno studio completo.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3703320" cy="5166360"/>
          </a:xfrm>
          <a:prstGeom prst="rect">
            <a:avLst/>
          </a:prstGeom>
          <a:solidFill>
            <a:srgbClr val="222E26"/>
          </a:solidFill>
          <a:ln w="9525">
            <a:solidFill>
              <a:srgbClr val="3A5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4632" y="15544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Palatino Linotype"/>
              </a:rPr>
              <a:t>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222199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4C69D"/>
                </a:solidFill>
                <a:latin typeface="Calibri"/>
              </a:rPr>
              <a:t>AGENTE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249631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alatino Linotype"/>
              </a:rPr>
              <a:t>NutriCoach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99923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AA"/>
                </a:solidFill>
                <a:latin typeface="Calibri"/>
              </a:rPr>
              <a:t>Il tuo assistente nutrizionale. Risponde ai pazienti sui dubbi alimentari quotidiani.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3794760"/>
            <a:ext cx="3337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74C69D"/>
                </a:solidFill>
                <a:latin typeface="Calibri"/>
              </a:rPr>
              <a:t>✓  </a:t>
            </a:r>
            <a:r>
              <a:rPr sz="950">
                <a:solidFill>
                  <a:srgbClr val="CCDDCC"/>
                </a:solidFill>
                <a:latin typeface="Calibri"/>
              </a:rPr>
              <a:t>Consigli dietetici personalizzati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74C69D"/>
                </a:solidFill>
                <a:latin typeface="Calibri"/>
              </a:rPr>
              <a:t>✓  </a:t>
            </a:r>
            <a:r>
              <a:rPr sz="950">
                <a:solidFill>
                  <a:srgbClr val="CCDDCC"/>
                </a:solidFill>
                <a:latin typeface="Calibri"/>
              </a:rPr>
              <a:t>Gestione sgarri e dubbi quotidiani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74C69D"/>
                </a:solidFill>
                <a:latin typeface="Calibri"/>
              </a:rPr>
              <a:t>✓  </a:t>
            </a:r>
            <a:r>
              <a:rPr sz="950">
                <a:solidFill>
                  <a:srgbClr val="CCDDCC"/>
                </a:solidFill>
                <a:latin typeface="Calibri"/>
              </a:rPr>
              <a:t>Educazione alimentare di base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74C69D"/>
                </a:solidFill>
                <a:latin typeface="Calibri"/>
              </a:rPr>
              <a:t>✓  </a:t>
            </a:r>
            <a:r>
              <a:rPr sz="950">
                <a:solidFill>
                  <a:srgbClr val="CCDDCC"/>
                </a:solidFill>
                <a:latin typeface="Calibri"/>
              </a:rPr>
              <a:t>Supporto motivazionale tra le visite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74C69D"/>
                </a:solidFill>
                <a:latin typeface="Calibri"/>
              </a:rPr>
              <a:t>✓  </a:t>
            </a:r>
            <a:r>
              <a:rPr sz="950">
                <a:solidFill>
                  <a:srgbClr val="CCDDCC"/>
                </a:solidFill>
                <a:latin typeface="Calibri"/>
              </a:rPr>
              <a:t>Risponde su intolleranze e patologie note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417320"/>
            <a:ext cx="3703320" cy="5166360"/>
          </a:xfrm>
          <a:prstGeom prst="rect">
            <a:avLst/>
          </a:prstGeom>
          <a:solidFill>
            <a:srgbClr val="222E26"/>
          </a:solidFill>
          <a:ln w="9525">
            <a:solidFill>
              <a:srgbClr val="3A5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16552" y="15544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Palatino Linotype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22199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4C69D"/>
                </a:solidFill>
                <a:latin typeface="Calibri"/>
              </a:rPr>
              <a:t>AGENTE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249631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alatino Linotype"/>
              </a:rPr>
              <a:t>Segreteria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99923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AA"/>
                </a:solidFill>
                <a:latin typeface="Calibri"/>
              </a:rPr>
              <a:t>Gestisce comunicazioni di studio: appuntamenti, prezzi, FAQ e pre-screening.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3794760"/>
            <a:ext cx="3337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74C69D"/>
                </a:solidFill>
                <a:latin typeface="Calibri"/>
              </a:rPr>
              <a:t>✓  </a:t>
            </a:r>
            <a:r>
              <a:rPr sz="950">
                <a:solidFill>
                  <a:srgbClr val="CCDDCC"/>
                </a:solidFill>
                <a:latin typeface="Calibri"/>
              </a:rPr>
              <a:t>Risposte su orari e prezzi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74C69D"/>
                </a:solidFill>
                <a:latin typeface="Calibri"/>
              </a:rPr>
              <a:t>✓  </a:t>
            </a:r>
            <a:r>
              <a:rPr sz="950">
                <a:solidFill>
                  <a:srgbClr val="CCDDCC"/>
                </a:solidFill>
                <a:latin typeface="Calibri"/>
              </a:rPr>
              <a:t>Raccolta anamnesi pre-visita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74C69D"/>
                </a:solidFill>
                <a:latin typeface="Calibri"/>
              </a:rPr>
              <a:t>✓  </a:t>
            </a:r>
            <a:r>
              <a:rPr sz="950">
                <a:solidFill>
                  <a:srgbClr val="CCDDCC"/>
                </a:solidFill>
                <a:latin typeface="Calibri"/>
              </a:rPr>
              <a:t>Gestione richieste di appuntamento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74C69D"/>
                </a:solidFill>
                <a:latin typeface="Calibri"/>
              </a:rPr>
              <a:t>✓  </a:t>
            </a:r>
            <a:r>
              <a:rPr sz="950">
                <a:solidFill>
                  <a:srgbClr val="CCDDCC"/>
                </a:solidFill>
                <a:latin typeface="Calibri"/>
              </a:rPr>
              <a:t>FAQ studio e servizi offerti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74C69D"/>
                </a:solidFill>
                <a:latin typeface="Calibri"/>
              </a:rPr>
              <a:t>✓  </a:t>
            </a:r>
            <a:r>
              <a:rPr sz="950">
                <a:solidFill>
                  <a:srgbClr val="CCDDCC"/>
                </a:solidFill>
                <a:latin typeface="Calibri"/>
              </a:rPr>
              <a:t>Smistamento richieste urgenti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417320"/>
            <a:ext cx="3703320" cy="5166360"/>
          </a:xfrm>
          <a:prstGeom prst="rect">
            <a:avLst/>
          </a:prstGeom>
          <a:solidFill>
            <a:srgbClr val="222E26"/>
          </a:solidFill>
          <a:ln w="9525">
            <a:solidFill>
              <a:srgbClr val="3A5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48471" y="15544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Palatino Linotype"/>
              </a:rPr>
              <a:t>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222199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4C69D"/>
                </a:solidFill>
                <a:latin typeface="Calibri"/>
              </a:rPr>
              <a:t>AGENTE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249631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alatino Linotype"/>
              </a:rPr>
              <a:t>Wellness Coach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99923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AA"/>
                </a:solidFill>
                <a:latin typeface="Calibri"/>
              </a:rPr>
              <a:t>Affianca il paziente nel cambiamento dello stile di vita e nella motivazione.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3794760"/>
            <a:ext cx="3337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74C69D"/>
                </a:solidFill>
                <a:latin typeface="Calibri"/>
              </a:rPr>
              <a:t>✓  </a:t>
            </a:r>
            <a:r>
              <a:rPr sz="950">
                <a:solidFill>
                  <a:srgbClr val="CCDDCC"/>
                </a:solidFill>
                <a:latin typeface="Calibri"/>
              </a:rPr>
              <a:t>Check-in motivazionale settimanale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74C69D"/>
                </a:solidFill>
                <a:latin typeface="Calibri"/>
              </a:rPr>
              <a:t>✓  </a:t>
            </a:r>
            <a:r>
              <a:rPr sz="950">
                <a:solidFill>
                  <a:srgbClr val="CCDDCC"/>
                </a:solidFill>
                <a:latin typeface="Calibri"/>
              </a:rPr>
              <a:t>Gestione emotiva del cibo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74C69D"/>
                </a:solidFill>
                <a:latin typeface="Calibri"/>
              </a:rPr>
              <a:t>✓  </a:t>
            </a:r>
            <a:r>
              <a:rPr sz="950">
                <a:solidFill>
                  <a:srgbClr val="CCDDCC"/>
                </a:solidFill>
                <a:latin typeface="Calibri"/>
              </a:rPr>
              <a:t>Suggerimenti su attività fisica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74C69D"/>
                </a:solidFill>
                <a:latin typeface="Calibri"/>
              </a:rPr>
              <a:t>✓  </a:t>
            </a:r>
            <a:r>
              <a:rPr sz="950">
                <a:solidFill>
                  <a:srgbClr val="CCDDCC"/>
                </a:solidFill>
                <a:latin typeface="Calibri"/>
              </a:rPr>
              <a:t>Tecniche di mindful eating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74C69D"/>
                </a:solidFill>
                <a:latin typeface="Calibri"/>
              </a:rPr>
              <a:t>✓  </a:t>
            </a:r>
            <a:r>
              <a:rPr sz="950">
                <a:solidFill>
                  <a:srgbClr val="CCDDCC"/>
                </a:solidFill>
                <a:latin typeface="Calibri"/>
              </a:rPr>
              <a:t>Celebrazione dei progressi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8F3DC"/>
                </a:solidFill>
                <a:latin typeface="Calibri"/>
              </a:rPr>
              <a:t>COME FUNZIONA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alatino Linotype"/>
              </a:rPr>
              <a:t>Attivo in meno di un'ora.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25880" y="2340864"/>
            <a:ext cx="9189720" cy="54864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34440" y="173736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17373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D6A4F"/>
                </a:solidFill>
                <a:latin typeface="Palatino Linotype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2697480" cy="329184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Scegli il piano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2331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Seleziona il piano adatto alla tua attività. Pagamento sicuro, attivazione immediata.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0" y="173736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0" y="17373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D6A4F"/>
                </a:solidFill>
                <a:latin typeface="Palatino Linotype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834640"/>
            <a:ext cx="2697480" cy="329184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0440" y="29718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1A1A1A"/>
                </a:solidFill>
                <a:latin typeface="Calibri"/>
              </a:rPr>
              <a:t>Carica</a:t>
            </a:r>
            <a:r>
              <a:rPr sz="1200" b="1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A1A1A"/>
                </a:solidFill>
                <a:latin typeface="Calibri"/>
              </a:rPr>
              <a:t>i</a:t>
            </a:r>
            <a:r>
              <a:rPr sz="1200" b="1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A1A1A"/>
                </a:solidFill>
                <a:latin typeface="Calibri"/>
              </a:rPr>
              <a:t>tuoi</a:t>
            </a:r>
            <a:r>
              <a:rPr sz="1200" b="1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A1A1A"/>
                </a:solidFill>
                <a:latin typeface="Calibri"/>
              </a:rPr>
              <a:t>materiali</a:t>
            </a:r>
            <a:endParaRPr sz="1200" b="1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20440" y="3474720"/>
            <a:ext cx="2331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PDF, protocolli, piani alimentari, listini. L'agente li legge e li fa suoi.</a:t>
            </a:r>
          </a:p>
        </p:txBody>
      </p:sp>
      <p:sp>
        <p:nvSpPr>
          <p:cNvPr id="16" name="Oval 15"/>
          <p:cNvSpPr/>
          <p:nvPr/>
        </p:nvSpPr>
        <p:spPr>
          <a:xfrm>
            <a:off x="6995159" y="173736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95159" y="17373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D6A4F"/>
                </a:solidFill>
                <a:latin typeface="Palatino Linotype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834640"/>
            <a:ext cx="2697480" cy="329184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9718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Personalizza il tono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74720"/>
            <a:ext cx="2331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Dai un nome all'agente, imposta le istruzioni, definisci cosa può e non può dire.</a:t>
            </a:r>
          </a:p>
        </p:txBody>
      </p:sp>
      <p:sp>
        <p:nvSpPr>
          <p:cNvPr id="21" name="Oval 20"/>
          <p:cNvSpPr/>
          <p:nvPr/>
        </p:nvSpPr>
        <p:spPr>
          <a:xfrm>
            <a:off x="9875519" y="173736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19" y="17373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D6A4F"/>
                </a:solidFill>
                <a:latin typeface="Palatino Linotype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2834640"/>
            <a:ext cx="2697480" cy="329184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81159" y="29718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Condividi il link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3474720"/>
            <a:ext cx="2331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Incolla il link sul sito, WhatsApp o Instagram. I pazienti iniziano a chattare.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4C69D"/>
                </a:solidFill>
                <a:latin typeface="Calibri"/>
              </a:rPr>
              <a:t>PREZZI TRASPARENTI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alatino Linotype"/>
              </a:rPr>
              <a:t>Setup una tantum  +  canone mensile.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611880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Palatino Linotype"/>
              </a:rP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Solo Nutrizionista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A7A"/>
                </a:solidFill>
                <a:latin typeface="Calibri"/>
              </a:rPr>
              <a:t>Setup: €99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578608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1A1A"/>
                </a:solidFill>
                <a:latin typeface="Palatino Linotype"/>
              </a:rPr>
              <a:t>€29</a:t>
            </a:r>
            <a:r>
              <a:rPr sz="1100">
                <a:solidFill>
                  <a:srgbClr val="7A7A7A"/>
                </a:solidFill>
                <a:latin typeface="Calibri"/>
              </a:rPr>
              <a:t> /mese</a:t>
            </a:r>
          </a:p>
        </p:txBody>
      </p:sp>
      <p:sp>
        <p:nvSpPr>
          <p:cNvPr id="10" name="Diamond 9"/>
          <p:cNvSpPr/>
          <p:nvPr/>
        </p:nvSpPr>
        <p:spPr>
          <a:xfrm>
            <a:off x="566928" y="3337560"/>
            <a:ext cx="3200400" cy="0"/>
          </a:xfrm>
          <a:prstGeom prst="diamond">
            <a:avLst/>
          </a:prstGeom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347472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2D6A4F"/>
                </a:solidFill>
                <a:latin typeface="Calibri"/>
              </a:rPr>
              <a:t>✓  </a:t>
            </a:r>
            <a:r>
              <a:rPr sz="950">
                <a:solidFill>
                  <a:srgbClr val="3D3D3D"/>
                </a:solidFill>
                <a:latin typeface="Calibri"/>
              </a:rPr>
              <a:t>1 Agente AI (NutriCoach)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2D6A4F"/>
                </a:solidFill>
                <a:latin typeface="Calibri"/>
              </a:rPr>
              <a:t>✓  </a:t>
            </a:r>
            <a:r>
              <a:rPr sz="950">
                <a:solidFill>
                  <a:srgbClr val="3D3D3D"/>
                </a:solidFill>
                <a:latin typeface="Calibri"/>
              </a:rPr>
              <a:t>Upload fino a 10 documenti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2D6A4F"/>
                </a:solidFill>
                <a:latin typeface="Calibri"/>
              </a:rPr>
              <a:t>✓  </a:t>
            </a:r>
            <a:r>
              <a:rPr sz="950">
                <a:solidFill>
                  <a:srgbClr val="3D3D3D"/>
                </a:solidFill>
                <a:latin typeface="Calibri"/>
              </a:rPr>
              <a:t>500 conversazioni/mese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2D6A4F"/>
                </a:solidFill>
                <a:latin typeface="Calibri"/>
              </a:rPr>
              <a:t>✓  </a:t>
            </a:r>
            <a:r>
              <a:rPr sz="950">
                <a:solidFill>
                  <a:srgbClr val="3D3D3D"/>
                </a:solidFill>
                <a:latin typeface="Calibri"/>
              </a:rPr>
              <a:t>Link chat condivisibile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2D6A4F"/>
                </a:solidFill>
                <a:latin typeface="Calibri"/>
              </a:rPr>
              <a:t>✓  </a:t>
            </a:r>
            <a:r>
              <a:rPr sz="950">
                <a:solidFill>
                  <a:srgbClr val="3D3D3D"/>
                </a:solidFill>
                <a:latin typeface="Calibri"/>
              </a:rPr>
              <a:t>Supporto via email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B5B5B5"/>
                </a:solidFill>
                <a:latin typeface="Calibri"/>
              </a:rPr>
              <a:t>✗  </a:t>
            </a:r>
            <a:r>
              <a:rPr sz="950">
                <a:solidFill>
                  <a:srgbClr val="B5B5B5"/>
                </a:solidFill>
                <a:latin typeface="Calibri"/>
              </a:rPr>
              <a:t>Segreteria AI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B5B5B5"/>
                </a:solidFill>
                <a:latin typeface="Calibri"/>
              </a:rPr>
              <a:t>✗  </a:t>
            </a:r>
            <a:r>
              <a:rPr sz="950">
                <a:solidFill>
                  <a:srgbClr val="B5B5B5"/>
                </a:solidFill>
                <a:latin typeface="Calibri"/>
              </a:rPr>
              <a:t>Wellness Coach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1170432"/>
            <a:ext cx="2331720" cy="31089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2040" y="1170432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⭐ PIÙ SCELTO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417320"/>
            <a:ext cx="3611880" cy="5166360"/>
          </a:xfrm>
          <a:prstGeom prst="rect">
            <a:avLst/>
          </a:prstGeom>
          <a:solidFill>
            <a:srgbClr val="2D6A4F"/>
          </a:solidFill>
          <a:ln w="9525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53128" y="15727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alatino Linotype"/>
              </a:rPr>
              <a:t>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FFCC"/>
                </a:solidFill>
                <a:latin typeface="Calibri"/>
              </a:rPr>
              <a:t>Studio Completo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FCC"/>
                </a:solidFill>
                <a:latin typeface="Calibri"/>
              </a:rPr>
              <a:t>Setup: €199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578608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Palatino Linotype"/>
              </a:rPr>
              <a:t>€59</a:t>
            </a:r>
            <a:r>
              <a:rPr sz="1100">
                <a:solidFill>
                  <a:srgbClr val="CCFFCC"/>
                </a:solidFill>
                <a:latin typeface="Calibri"/>
              </a:rPr>
              <a:t> /mese</a:t>
            </a:r>
          </a:p>
        </p:txBody>
      </p:sp>
      <p:sp>
        <p:nvSpPr>
          <p:cNvPr id="19" name="Diamond 18"/>
          <p:cNvSpPr/>
          <p:nvPr/>
        </p:nvSpPr>
        <p:spPr>
          <a:xfrm>
            <a:off x="4453128" y="3337560"/>
            <a:ext cx="3200400" cy="0"/>
          </a:xfrm>
          <a:prstGeom prst="diamond">
            <a:avLst/>
          </a:prstGeom>
          <a:ln w="9525">
            <a:solidFill>
              <a:srgbClr val="55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16552" y="347472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74C69D"/>
                </a:solidFill>
                <a:latin typeface="Calibri"/>
              </a:rPr>
              <a:t>✓  </a:t>
            </a:r>
            <a:r>
              <a:rPr sz="950">
                <a:solidFill>
                  <a:srgbClr val="DDFFEE"/>
                </a:solidFill>
                <a:latin typeface="Calibri"/>
              </a:rPr>
              <a:t>2 Agenti AI (NutriCoach + Segreteria)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74C69D"/>
                </a:solidFill>
                <a:latin typeface="Calibri"/>
              </a:rPr>
              <a:t>✓  </a:t>
            </a:r>
            <a:r>
              <a:rPr sz="950">
                <a:solidFill>
                  <a:srgbClr val="DDFFEE"/>
                </a:solidFill>
                <a:latin typeface="Calibri"/>
              </a:rPr>
              <a:t>Upload fino a 50 documenti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74C69D"/>
                </a:solidFill>
                <a:latin typeface="Calibri"/>
              </a:rPr>
              <a:t>✓  </a:t>
            </a:r>
            <a:r>
              <a:rPr sz="950">
                <a:solidFill>
                  <a:srgbClr val="DDFFEE"/>
                </a:solidFill>
                <a:latin typeface="Calibri"/>
              </a:rPr>
              <a:t>Conversazioni illimitate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74C69D"/>
                </a:solidFill>
                <a:latin typeface="Calibri"/>
              </a:rPr>
              <a:t>✓  </a:t>
            </a:r>
            <a:r>
              <a:rPr sz="950">
                <a:solidFill>
                  <a:srgbClr val="DDFFEE"/>
                </a:solidFill>
                <a:latin typeface="Calibri"/>
              </a:rPr>
              <a:t>Link chat + widget sito web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74C69D"/>
                </a:solidFill>
                <a:latin typeface="Calibri"/>
              </a:rPr>
              <a:t>✓  </a:t>
            </a:r>
            <a:r>
              <a:rPr sz="950">
                <a:solidFill>
                  <a:srgbClr val="DDFFEE"/>
                </a:solidFill>
                <a:latin typeface="Calibri"/>
              </a:rPr>
              <a:t>Analytics mensili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74C69D"/>
                </a:solidFill>
                <a:latin typeface="Calibri"/>
              </a:rPr>
              <a:t>✓  </a:t>
            </a:r>
            <a:r>
              <a:rPr sz="950">
                <a:solidFill>
                  <a:srgbClr val="DDFFEE"/>
                </a:solidFill>
                <a:latin typeface="Calibri"/>
              </a:rPr>
              <a:t>Supporto prioritario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74C69D"/>
                </a:solidFill>
                <a:latin typeface="Calibri"/>
              </a:rPr>
              <a:t>✓  </a:t>
            </a:r>
            <a:r>
              <a:rPr sz="950">
                <a:solidFill>
                  <a:srgbClr val="DDFFEE"/>
                </a:solidFill>
                <a:latin typeface="Calibri"/>
              </a:rPr>
              <a:t>Aggiornamenti agente inclusi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417320"/>
            <a:ext cx="3611880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9328" y="15727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Palatino Linotype"/>
              </a:rPr>
              <a:t>Studio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Suite Completa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A7A"/>
                </a:solidFill>
                <a:latin typeface="Calibri"/>
              </a:rPr>
              <a:t>Setup: €399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578608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1A1A"/>
                </a:solidFill>
                <a:latin typeface="Palatino Linotype"/>
              </a:rPr>
              <a:t>€99</a:t>
            </a:r>
            <a:r>
              <a:rPr sz="1100">
                <a:solidFill>
                  <a:srgbClr val="7A7A7A"/>
                </a:solidFill>
                <a:latin typeface="Calibri"/>
              </a:rPr>
              <a:t> /mese</a:t>
            </a:r>
          </a:p>
        </p:txBody>
      </p:sp>
      <p:sp>
        <p:nvSpPr>
          <p:cNvPr id="26" name="Diamond 25"/>
          <p:cNvSpPr/>
          <p:nvPr/>
        </p:nvSpPr>
        <p:spPr>
          <a:xfrm>
            <a:off x="8339328" y="3337560"/>
            <a:ext cx="3200400" cy="0"/>
          </a:xfrm>
          <a:prstGeom prst="diamond">
            <a:avLst/>
          </a:prstGeom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02752" y="347472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2D6A4F"/>
                </a:solidFill>
                <a:latin typeface="Calibri"/>
              </a:rPr>
              <a:t>✓  </a:t>
            </a:r>
            <a:r>
              <a:rPr sz="950">
                <a:solidFill>
                  <a:srgbClr val="3D3D3D"/>
                </a:solidFill>
                <a:latin typeface="Calibri"/>
              </a:rPr>
              <a:t>Tutti e 3 gli Agenti AI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2D6A4F"/>
                </a:solidFill>
                <a:latin typeface="Calibri"/>
              </a:rPr>
              <a:t>✓  </a:t>
            </a:r>
            <a:r>
              <a:rPr sz="950">
                <a:solidFill>
                  <a:srgbClr val="3D3D3D"/>
                </a:solidFill>
                <a:latin typeface="Calibri"/>
              </a:rPr>
              <a:t>Documenti illimitati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2D6A4F"/>
                </a:solidFill>
                <a:latin typeface="Calibri"/>
              </a:rPr>
              <a:t>✓  </a:t>
            </a:r>
            <a:r>
              <a:rPr sz="950">
                <a:solidFill>
                  <a:srgbClr val="3D3D3D"/>
                </a:solidFill>
                <a:latin typeface="Calibri"/>
              </a:rPr>
              <a:t>Conversazioni illimitate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2D6A4F"/>
                </a:solidFill>
                <a:latin typeface="Calibri"/>
              </a:rPr>
              <a:t>✓  </a:t>
            </a:r>
            <a:r>
              <a:rPr sz="950">
                <a:solidFill>
                  <a:srgbClr val="3D3D3D"/>
                </a:solidFill>
                <a:latin typeface="Calibri"/>
              </a:rPr>
              <a:t>Widget sito + WhatsApp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2D6A4F"/>
                </a:solidFill>
                <a:latin typeface="Calibri"/>
              </a:rPr>
              <a:t>✓  </a:t>
            </a:r>
            <a:r>
              <a:rPr sz="950">
                <a:solidFill>
                  <a:srgbClr val="3D3D3D"/>
                </a:solidFill>
                <a:latin typeface="Calibri"/>
              </a:rPr>
              <a:t>Dashboard analytics completa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2D6A4F"/>
                </a:solidFill>
                <a:latin typeface="Calibri"/>
              </a:rPr>
              <a:t>✓  </a:t>
            </a:r>
            <a:r>
              <a:rPr sz="950">
                <a:solidFill>
                  <a:srgbClr val="3D3D3D"/>
                </a:solidFill>
                <a:latin typeface="Calibri"/>
              </a:rPr>
              <a:t>Supporto telefonico dedicato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2D6A4F"/>
                </a:solidFill>
                <a:latin typeface="Calibri"/>
              </a:rPr>
              <a:t>✓  </a:t>
            </a:r>
            <a:r>
              <a:rPr sz="950">
                <a:solidFill>
                  <a:srgbClr val="3D3D3D"/>
                </a:solidFill>
                <a:latin typeface="Calibri"/>
              </a:rPr>
              <a:t>Onboarding guidato 1:1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A7A"/>
                </a:solidFill>
                <a:latin typeface="Calibri"/>
              </a:rPr>
              <a:t>💳  Pagamento sicuro  ·  Disdici in qualsiasi momento  ·  Nessun vincolo contrattuale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8F3DC"/>
                </a:solidFill>
                <a:latin typeface="Calibri"/>
              </a:rPr>
              <a:t>LA TECNOLOGIA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alatino Linotype"/>
              </a:rPr>
              <a:t>L'agente impara dai tuoi documenti.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4C69D"/>
                </a:solidFill>
                <a:latin typeface="Calibri"/>
              </a:rPr>
              <a:t>Cosa puoi caricare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5029200" cy="841248"/>
          </a:xfrm>
          <a:prstGeom prst="rect">
            <a:avLst/>
          </a:prstGeom>
          <a:solidFill>
            <a:srgbClr val="1E2E22"/>
          </a:solidFill>
          <a:ln w="6350">
            <a:solidFill>
              <a:srgbClr val="385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121408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alatino Linotype"/>
              </a:rPr>
              <a:t>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03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4C69D"/>
                </a:solidFill>
                <a:latin typeface="Calibri"/>
              </a:rPr>
              <a:t>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323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CCAA"/>
                </a:solidFill>
                <a:latin typeface="Calibri"/>
              </a:rPr>
              <a:t>Cartelle cliniche, protocolli, piani alimentari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5029200" cy="841248"/>
          </a:xfrm>
          <a:prstGeom prst="rect">
            <a:avLst/>
          </a:prstGeom>
          <a:solidFill>
            <a:srgbClr val="1E2E22"/>
          </a:solidFill>
          <a:ln w="6350">
            <a:solidFill>
              <a:srgbClr val="385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3127248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alatino Linotype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4C69D"/>
                </a:solidFill>
                <a:latin typeface="Calibri"/>
              </a:rPr>
              <a:t>XLSX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3814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CCAA"/>
                </a:solidFill>
                <a:latin typeface="Calibri"/>
              </a:rPr>
              <a:t>Listini prezzi, schede di monitoraggio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23360"/>
            <a:ext cx="5029200" cy="841248"/>
          </a:xfrm>
          <a:prstGeom prst="rect">
            <a:avLst/>
          </a:prstGeom>
          <a:solidFill>
            <a:srgbClr val="1E2E22"/>
          </a:solidFill>
          <a:ln w="6350">
            <a:solidFill>
              <a:srgbClr val="385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4133088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alatino Linotype"/>
              </a:rP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114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4C69D"/>
                </a:solidFill>
                <a:latin typeface="Calibri"/>
              </a:rPr>
              <a:t>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44398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CCAA"/>
                </a:solidFill>
                <a:latin typeface="Calibri"/>
              </a:rPr>
              <a:t>Note personali, istruzioni, FAQ scritte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29200"/>
            <a:ext cx="5029200" cy="841248"/>
          </a:xfrm>
          <a:prstGeom prst="rect">
            <a:avLst/>
          </a:prstGeom>
          <a:solidFill>
            <a:srgbClr val="1E2E22"/>
          </a:solidFill>
          <a:ln w="6350">
            <a:solidFill>
              <a:srgbClr val="385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5138928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alatino Linotype"/>
              </a:rPr>
              <a:t>🖼️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120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4C69D"/>
                </a:solidFill>
                <a:latin typeface="Calibri"/>
              </a:rPr>
              <a:t>JPG/PNG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44982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CCAA"/>
                </a:solidFill>
                <a:latin typeface="Calibri"/>
              </a:rPr>
              <a:t>Foto di alimenti, tabelle nutrizionali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508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4C69D"/>
                </a:solidFill>
                <a:latin typeface="Calibri"/>
              </a:rPr>
              <a:t>Come funziona il RAG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2103120"/>
            <a:ext cx="594360" cy="5943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20574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alatino Linotype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0756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Carica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39572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AA"/>
                </a:solidFill>
                <a:latin typeface="Calibri"/>
              </a:rPr>
              <a:t>Trascini i tuoi file sul pannello</a:t>
            </a:r>
          </a:p>
        </p:txBody>
      </p:sp>
      <p:sp>
        <p:nvSpPr>
          <p:cNvPr id="27" name="Diamond 26"/>
          <p:cNvSpPr/>
          <p:nvPr/>
        </p:nvSpPr>
        <p:spPr>
          <a:xfrm>
            <a:off x="6473952" y="2743200"/>
            <a:ext cx="0" cy="228600"/>
          </a:xfrm>
          <a:prstGeom prst="diamond">
            <a:avLst/>
          </a:prstGeom>
          <a:ln w="1270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217920" y="3108960"/>
            <a:ext cx="594360" cy="5943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30632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alatino Linotype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308152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Elabora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34015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AA"/>
                </a:solidFill>
                <a:latin typeface="Calibri"/>
              </a:rPr>
              <a:t>L'AI legge e indicizza i contenuti</a:t>
            </a:r>
          </a:p>
        </p:txBody>
      </p:sp>
      <p:sp>
        <p:nvSpPr>
          <p:cNvPr id="32" name="Diamond 31"/>
          <p:cNvSpPr/>
          <p:nvPr/>
        </p:nvSpPr>
        <p:spPr>
          <a:xfrm>
            <a:off x="6473952" y="3749040"/>
            <a:ext cx="0" cy="228600"/>
          </a:xfrm>
          <a:prstGeom prst="diamond">
            <a:avLst/>
          </a:prstGeom>
          <a:ln w="1270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217920" y="4114800"/>
            <a:ext cx="594360" cy="5943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0" y="40690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alatino Linotype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40873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Recupera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40740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AA"/>
                </a:solidFill>
                <a:latin typeface="Calibri"/>
              </a:rPr>
              <a:t>Il paziente fa una domanda</a:t>
            </a:r>
          </a:p>
        </p:txBody>
      </p:sp>
      <p:sp>
        <p:nvSpPr>
          <p:cNvPr id="37" name="Diamond 36"/>
          <p:cNvSpPr/>
          <p:nvPr/>
        </p:nvSpPr>
        <p:spPr>
          <a:xfrm>
            <a:off x="6473952" y="4754880"/>
            <a:ext cx="0" cy="228600"/>
          </a:xfrm>
          <a:prstGeom prst="diamond">
            <a:avLst/>
          </a:prstGeom>
          <a:ln w="1270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217920" y="5120640"/>
            <a:ext cx="594360" cy="5943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7920" y="50749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alatino Linotype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509320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Risponde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541324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AA"/>
                </a:solidFill>
                <a:latin typeface="Calibri"/>
              </a:rPr>
              <a:t>L'agente trova il contesto giusto e risponde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4C69D"/>
                </a:solidFill>
                <a:latin typeface="Calibri"/>
              </a:rPr>
              <a:t>DOMANDE FREQUENTI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alatino Linotype"/>
              </a:rPr>
              <a:t>Tutto quello che vuoi sapere.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3749039" cy="2194560"/>
          </a:xfrm>
          <a:prstGeom prst="rect">
            <a:avLst/>
          </a:prstGeom>
          <a:solidFill>
            <a:srgbClr val="FAF8F3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274320" cy="274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9105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L'agente sostituisce la mia consulenza?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No. Gestisce la routine e i dubbi quotidiani. La consulenza clinica rimane sempre e solo tua. L'agente è configurato per rimandare al professionista nei casi che richiedono valutazione clinica.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417320"/>
            <a:ext cx="3749039" cy="2194560"/>
          </a:xfrm>
          <a:prstGeom prst="rect">
            <a:avLst/>
          </a:prstGeom>
          <a:solidFill>
            <a:srgbClr val="FAF8F3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600200"/>
            <a:ext cx="274320" cy="274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59105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I miei documenti sono al sicuro?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10312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Sì. I documenti vengono caricati su infrastruttura cifrata e non vengono mai usati per addestrare modelli AI. Ogni studio ha un ambiente completamente isolato.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417320"/>
            <a:ext cx="3749039" cy="2194560"/>
          </a:xfrm>
          <a:prstGeom prst="rect">
            <a:avLst/>
          </a:prstGeom>
          <a:solidFill>
            <a:srgbClr val="FAF8F3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66759" y="1600200"/>
            <a:ext cx="274320" cy="274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59" y="159105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0807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Come accedono i pazienti all'agente?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210312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Ricevi un link dedicato da condividere come vuoi: WhatsApp, email, sito, Instagram. Il paziente apre il link e chatta — senza app da scaricare, senza registrazione.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794760"/>
            <a:ext cx="3749039" cy="2194560"/>
          </a:xfrm>
          <a:prstGeom prst="rect">
            <a:avLst/>
          </a:prstGeom>
          <a:solidFill>
            <a:srgbClr val="FAF8F3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3977640"/>
            <a:ext cx="274320" cy="274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9684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931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Devo avere competenze tecniche?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805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Zero. Il pannello è progettato per professionisti sanitari. Carichi i documenti, scrivi le istruzioni in italiano semplice, e l'agente è pronto. Il piano Studio include onboarding 1:1.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3794760"/>
            <a:ext cx="3749039" cy="2194560"/>
          </a:xfrm>
          <a:prstGeom prst="rect">
            <a:avLst/>
          </a:prstGeom>
          <a:solidFill>
            <a:srgbClr val="FAF8F3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34840" y="3977640"/>
            <a:ext cx="274320" cy="274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40" y="39684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3931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Posso disdire quando voglio?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4805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Sì, disdici in qualsiasi momento dal pannello, senza penali. Il setup iniziale non è rimborsabile — copre il lavoro di configurazione già effettuato.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3794760"/>
            <a:ext cx="3749039" cy="2194560"/>
          </a:xfrm>
          <a:prstGeom prst="rect">
            <a:avLst/>
          </a:prstGeom>
          <a:solidFill>
            <a:srgbClr val="FAF8F3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366759" y="3977640"/>
            <a:ext cx="274320" cy="274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66759" y="39684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807" y="3931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Quali file posso caricare?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44805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PDF, Word, Excel, testo, immagini JPG e PNG. Piani alimentari, schede anamnestiche, protocolli, listini, foto di alimenti — tutto quello che usi quotidianamente.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72400" y="3200400"/>
            <a:ext cx="5029200" cy="5029200"/>
          </a:xfrm>
          <a:prstGeom prst="ellipse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3840480"/>
            <a:ext cx="3657600" cy="3657600"/>
          </a:xfrm>
          <a:prstGeom prst="ellipse">
            <a:avLst/>
          </a:prstGeom>
          <a:solidFill>
            <a:srgbClr val="74C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18320" y="40233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1A1A1A"/>
                </a:solidFill>
                <a:latin typeface="Palatino Linotype"/>
              </a:rPr>
              <a:t>🥗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3474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98755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6A4F"/>
                </a:solidFill>
                <a:latin typeface="Calibri"/>
              </a:rPr>
              <a:t>INIZIA OGGI — ATTIVO IN UN'ORA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alatino Linotype"/>
              </a:rPr>
              <a:t>Pronto a recuperare</a:t>
            </a:r>
          </a:p>
          <a:p>
            <a:pPr algn="l"/>
            <a:r>
              <a:rPr sz="4000" b="1" i="1">
                <a:solidFill>
                  <a:srgbClr val="D8F3DC"/>
                </a:solidFill>
                <a:latin typeface="Palatino Linotype"/>
              </a:rPr>
              <a:t>3 ore a settimana?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97763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FFCC"/>
                </a:solidFill>
                <a:latin typeface="Calibri"/>
              </a:rPr>
              <a:t>I tuoi pazienti lo ameranno. Il tuo studio non tornerà più indietro.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4663440"/>
            <a:ext cx="3017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466344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 err="1">
                <a:solidFill>
                  <a:srgbClr val="2D6A4F"/>
                </a:solidFill>
                <a:latin typeface="Calibri"/>
              </a:rPr>
              <a:t>Scegli</a:t>
            </a:r>
            <a:r>
              <a:rPr sz="1200" b="1" i="0" dirty="0">
                <a:solidFill>
                  <a:srgbClr val="2D6A4F"/>
                </a:solidFill>
                <a:latin typeface="Calibri"/>
              </a:rPr>
              <a:t> il </a:t>
            </a:r>
            <a:r>
              <a:rPr sz="1200" b="1" i="0" dirty="0" err="1">
                <a:solidFill>
                  <a:srgbClr val="2D6A4F"/>
                </a:solidFill>
                <a:latin typeface="Calibri"/>
              </a:rPr>
              <a:t>tuo</a:t>
            </a:r>
            <a:r>
              <a:rPr sz="1200" b="1" i="0" dirty="0">
                <a:solidFill>
                  <a:srgbClr val="2D6A4F"/>
                </a:solidFill>
                <a:latin typeface="Calibri"/>
              </a:rPr>
              <a:t> piano 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4663440"/>
            <a:ext cx="3017520" cy="59436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69079" y="466344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Parla con un esperto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263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DDBB"/>
                </a:solidFill>
                <a:latin typeface="Calibri"/>
              </a:rPr>
              <a:t>nutriagent.ai  ·  info@nutriagent.ai  ·  ©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890</Words>
  <Application>Microsoft Office PowerPoint</Application>
  <PresentationFormat>Custom</PresentationFormat>
  <Paragraphs>163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Palatino Linotype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Fabio Fontana</dc:creator>
  <cp:keywords/>
  <dc:description>generated using python-pptx</dc:description>
  <cp:lastModifiedBy>Fabio Fontana</cp:lastModifiedBy>
  <cp:revision>2</cp:revision>
  <dcterms:created xsi:type="dcterms:W3CDTF">2013-01-27T09:14:16Z</dcterms:created>
  <dcterms:modified xsi:type="dcterms:W3CDTF">2026-03-07T17:50:46Z</dcterms:modified>
  <cp:category/>
</cp:coreProperties>
</file>