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5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54864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iamond 3"/>
          <p:cNvSpPr/>
          <p:nvPr/>
        </p:nvSpPr>
        <p:spPr>
          <a:xfrm>
            <a:off x="8549640" y="548640"/>
            <a:ext cx="3474720" cy="0"/>
          </a:xfrm>
          <a:prstGeom prst="diamond">
            <a:avLst/>
          </a:prstGeom>
          <a:ln w="635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iamond 4"/>
          <p:cNvSpPr/>
          <p:nvPr/>
        </p:nvSpPr>
        <p:spPr>
          <a:xfrm>
            <a:off x="8549640" y="1463040"/>
            <a:ext cx="3474720" cy="0"/>
          </a:xfrm>
          <a:prstGeom prst="diamond">
            <a:avLst/>
          </a:prstGeom>
          <a:ln w="635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iamond 5"/>
          <p:cNvSpPr/>
          <p:nvPr/>
        </p:nvSpPr>
        <p:spPr>
          <a:xfrm>
            <a:off x="8549640" y="2377440"/>
            <a:ext cx="3474720" cy="0"/>
          </a:xfrm>
          <a:prstGeom prst="diamond">
            <a:avLst/>
          </a:prstGeom>
          <a:ln w="635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iamond 6"/>
          <p:cNvSpPr/>
          <p:nvPr/>
        </p:nvSpPr>
        <p:spPr>
          <a:xfrm>
            <a:off x="8549640" y="3291840"/>
            <a:ext cx="3474720" cy="0"/>
          </a:xfrm>
          <a:prstGeom prst="diamond">
            <a:avLst/>
          </a:prstGeom>
          <a:ln w="635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Diamond 7"/>
          <p:cNvSpPr/>
          <p:nvPr/>
        </p:nvSpPr>
        <p:spPr>
          <a:xfrm>
            <a:off x="8549640" y="4206240"/>
            <a:ext cx="3474720" cy="0"/>
          </a:xfrm>
          <a:prstGeom prst="diamond">
            <a:avLst/>
          </a:prstGeom>
          <a:ln w="635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Diamond 8"/>
          <p:cNvSpPr/>
          <p:nvPr/>
        </p:nvSpPr>
        <p:spPr>
          <a:xfrm>
            <a:off x="8549640" y="5120640"/>
            <a:ext cx="3474720" cy="0"/>
          </a:xfrm>
          <a:prstGeom prst="diamond">
            <a:avLst/>
          </a:prstGeom>
          <a:ln w="635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iamond 9"/>
          <p:cNvSpPr/>
          <p:nvPr/>
        </p:nvSpPr>
        <p:spPr>
          <a:xfrm>
            <a:off x="8549640" y="6035040"/>
            <a:ext cx="3474720" cy="0"/>
          </a:xfrm>
          <a:prstGeom prst="diamond">
            <a:avLst/>
          </a:prstGeom>
          <a:ln w="635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41080" y="5029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A0B8"/>
                </a:solidFill>
                <a:latin typeface="Consolas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7772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onsolas"/>
              </a:rPr>
              <a:t>React 18 + Vite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13533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A0B8"/>
                </a:solidFill>
                <a:latin typeface="Consolas"/>
              </a:rPr>
              <a:t>STYLING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162763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onsolas"/>
              </a:rPr>
              <a:t>Tailwind CSS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2037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A0B8"/>
                </a:solidFill>
                <a:latin typeface="Consolas"/>
              </a:rPr>
              <a:t>AI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478024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onsolas"/>
              </a:rPr>
              <a:t>Claude Sonnet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305409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A0B8"/>
                </a:solidFill>
                <a:latin typeface="Consolas"/>
              </a:rPr>
              <a:t>FILES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3328415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  <a:latin typeface="Consolas"/>
              </a:rPr>
              <a:t>Anthropic Files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904488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A0B8"/>
                </a:solidFill>
                <a:latin typeface="Consolas"/>
              </a:rPr>
              <a:t>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17880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F1C"/>
                </a:solidFill>
                <a:latin typeface="Consolas"/>
              </a:rPr>
              <a:t>Supabase Auth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47548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A0B8"/>
                </a:solidFill>
                <a:latin typeface="Consolas"/>
              </a:rP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50292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F1C"/>
                </a:solidFill>
                <a:latin typeface="Consolas"/>
              </a:rPr>
              <a:t>Supabase + pgvector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560527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AA0B8"/>
                </a:solidFill>
                <a:latin typeface="Consolas"/>
              </a:rPr>
              <a:t>PAYMENTS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587959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C518"/>
                </a:solidFill>
                <a:latin typeface="Consolas"/>
              </a:rPr>
              <a:t>Stripe Subscriptions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00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onsolas"/>
              </a:rPr>
              <a:t>// TECHNICAL BLUEPRINT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1097280"/>
            <a:ext cx="749807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1">
                <a:solidFill>
                  <a:srgbClr val="FFFFFF"/>
                </a:solidFill>
                <a:latin typeface="Cambria"/>
              </a:rPr>
              <a:t>AgentForge</a:t>
            </a:r>
          </a:p>
          <a:p>
            <a:r>
              <a:rPr sz="3600" b="1" i="1">
                <a:solidFill>
                  <a:srgbClr val="00D4FF"/>
                </a:solidFill>
                <a:latin typeface="Cambria"/>
              </a:rPr>
              <a:t>Framework Tecnico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42900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0B8"/>
                </a:solidFill>
                <a:latin typeface="Calibri"/>
              </a:rPr>
              <a:t>Guida completa alla realizzazione da zero di un MVP per agenti AI vendibili a professionisti. Architettura, stack, flussi, codice e deployment — step by step.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526280"/>
            <a:ext cx="1115568" cy="457200"/>
          </a:xfrm>
          <a:prstGeom prst="rect">
            <a:avLst/>
          </a:prstGeom>
          <a:solidFill>
            <a:srgbClr val="1E3A55"/>
          </a:solidFill>
          <a:ln w="6350">
            <a:solidFill>
              <a:srgbClr val="00A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5216" y="4544568"/>
            <a:ext cx="1042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0D4FF"/>
                </a:solidFill>
                <a:latin typeface="Consolas"/>
              </a:rPr>
              <a:t>FASE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" y="4754880"/>
            <a:ext cx="1042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Setup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10512" y="4526280"/>
            <a:ext cx="1115568" cy="457200"/>
          </a:xfrm>
          <a:prstGeom prst="rect">
            <a:avLst/>
          </a:prstGeom>
          <a:solidFill>
            <a:srgbClr val="1E3A55"/>
          </a:solidFill>
          <a:ln w="6350">
            <a:solidFill>
              <a:srgbClr val="00A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47088" y="4544568"/>
            <a:ext cx="1042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0D4FF"/>
                </a:solidFill>
                <a:latin typeface="Consolas"/>
              </a:rPr>
              <a:t>FASE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47088" y="4754880"/>
            <a:ext cx="1042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Core AI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72384" y="4526280"/>
            <a:ext cx="1115568" cy="457200"/>
          </a:xfrm>
          <a:prstGeom prst="rect">
            <a:avLst/>
          </a:prstGeom>
          <a:solidFill>
            <a:srgbClr val="1E3A55"/>
          </a:solidFill>
          <a:ln w="6350">
            <a:solidFill>
              <a:srgbClr val="00A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108960" y="4544568"/>
            <a:ext cx="1042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0D4FF"/>
                </a:solidFill>
                <a:latin typeface="Consolas"/>
              </a:rPr>
              <a:t>FASE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4754880"/>
            <a:ext cx="1042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34255" y="4526280"/>
            <a:ext cx="1115568" cy="457200"/>
          </a:xfrm>
          <a:prstGeom prst="rect">
            <a:avLst/>
          </a:prstGeom>
          <a:solidFill>
            <a:srgbClr val="1E3A55"/>
          </a:solidFill>
          <a:ln w="6350">
            <a:solidFill>
              <a:srgbClr val="00A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70831" y="4544568"/>
            <a:ext cx="1042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0D4FF"/>
                </a:solidFill>
                <a:latin typeface="Consolas"/>
              </a:rPr>
              <a:t>FASE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0831" y="4754880"/>
            <a:ext cx="1042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Auth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96127" y="4526280"/>
            <a:ext cx="1115568" cy="457200"/>
          </a:xfrm>
          <a:prstGeom prst="rect">
            <a:avLst/>
          </a:prstGeom>
          <a:solidFill>
            <a:srgbClr val="1E3A55"/>
          </a:solidFill>
          <a:ln w="6350">
            <a:solidFill>
              <a:srgbClr val="00A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632703" y="4544568"/>
            <a:ext cx="1042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0D4FF"/>
                </a:solidFill>
                <a:latin typeface="Consolas"/>
              </a:rPr>
              <a:t>FASE 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32703" y="4754880"/>
            <a:ext cx="1042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Payments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7999" y="4526280"/>
            <a:ext cx="1115568" cy="457200"/>
          </a:xfrm>
          <a:prstGeom prst="rect">
            <a:avLst/>
          </a:prstGeom>
          <a:solidFill>
            <a:srgbClr val="1E3A55"/>
          </a:solidFill>
          <a:ln w="6350">
            <a:solidFill>
              <a:srgbClr val="00A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94575" y="4544568"/>
            <a:ext cx="1042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00D4FF"/>
                </a:solidFill>
                <a:latin typeface="Consolas"/>
              </a:rPr>
              <a:t>FASE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94575" y="4754880"/>
            <a:ext cx="10424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309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A6078"/>
                </a:solidFill>
                <a:latin typeface="Consolas"/>
              </a:rPr>
              <a:t>v1.0  ·  Stack: React · Supabase · Anthropic · Stripe  ·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188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FF"/>
                </a:solidFill>
                <a:latin typeface="Consolas"/>
              </a:rPr>
              <a:t>// PANORAMICA ARCHITETTURA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657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Visione d'insieme del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429000" cy="5257800"/>
          </a:xfrm>
          <a:prstGeom prst="rect">
            <a:avLst/>
          </a:prstGeom>
          <a:solidFill>
            <a:srgbClr val="14283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4290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  <a:latin typeface="Consolas"/>
              </a:rPr>
              <a:t>🖥  LAYER 1 —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1051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alibri"/>
              </a:rPr>
              <a:t>React + Vite + Tailwind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76272"/>
            <a:ext cx="3154680" cy="685800"/>
          </a:xfrm>
          <a:prstGeom prst="rect">
            <a:avLst/>
          </a:prstGeom>
          <a:solidFill>
            <a:srgbClr val="07121E"/>
          </a:solidFill>
          <a:ln w="508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176272"/>
            <a:ext cx="36576" cy="685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234086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  <a:latin typeface="Calibri"/>
              </a:rPr>
              <a:t>Landing page pubblica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36391"/>
            <a:ext cx="3154680" cy="685800"/>
          </a:xfrm>
          <a:prstGeom prst="rect">
            <a:avLst/>
          </a:prstGeom>
          <a:solidFill>
            <a:srgbClr val="07121E"/>
          </a:solidFill>
          <a:ln w="508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3136391"/>
            <a:ext cx="36576" cy="685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330098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  <a:latin typeface="Calibri"/>
              </a:rPr>
              <a:t>Pannello Admin professionista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096512"/>
            <a:ext cx="3154680" cy="685800"/>
          </a:xfrm>
          <a:prstGeom prst="rect">
            <a:avLst/>
          </a:prstGeom>
          <a:solidFill>
            <a:srgbClr val="07121E"/>
          </a:solidFill>
          <a:ln w="508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4096512"/>
            <a:ext cx="36576" cy="685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426110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  <a:latin typeface="Calibri"/>
              </a:rPr>
              <a:t>Chat widget paziente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056632"/>
            <a:ext cx="3154680" cy="685800"/>
          </a:xfrm>
          <a:prstGeom prst="rect">
            <a:avLst/>
          </a:prstGeom>
          <a:solidFill>
            <a:srgbClr val="07121E"/>
          </a:solidFill>
          <a:ln w="508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5056632"/>
            <a:ext cx="36576" cy="685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522122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  <a:latin typeface="Calibri"/>
              </a:rPr>
              <a:t>Dashboard analytics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1325880"/>
            <a:ext cx="3429000" cy="5257800"/>
          </a:xfrm>
          <a:prstGeom prst="rect">
            <a:avLst/>
          </a:prstGeom>
          <a:solidFill>
            <a:srgbClr val="14283E"/>
          </a:solidFill>
          <a:ln w="1016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43400" y="1325880"/>
            <a:ext cx="3429000" cy="457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80560" y="135331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  <a:latin typeface="Consolas"/>
              </a:rPr>
              <a:t>⚙  LAYER 2 — BACKEND &amp;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181051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C39A"/>
                </a:solidFill>
                <a:latin typeface="Calibri"/>
              </a:rPr>
              <a:t>Node/Edge Functions + Anthropic API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2176272"/>
            <a:ext cx="3154680" cy="685800"/>
          </a:xfrm>
          <a:prstGeom prst="rect">
            <a:avLst/>
          </a:prstGeom>
          <a:solidFill>
            <a:srgbClr val="07121E"/>
          </a:solidFill>
          <a:ln w="508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480560" y="2176272"/>
            <a:ext cx="36576" cy="685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36008" y="234086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  <a:latin typeface="Calibri"/>
              </a:rPr>
              <a:t>API routes (auth, files, chat)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0560" y="3136391"/>
            <a:ext cx="3154680" cy="685800"/>
          </a:xfrm>
          <a:prstGeom prst="rect">
            <a:avLst/>
          </a:prstGeom>
          <a:solidFill>
            <a:srgbClr val="07121E"/>
          </a:solidFill>
          <a:ln w="508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480560" y="3136391"/>
            <a:ext cx="36576" cy="685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36008" y="330098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  <a:latin typeface="Calibri"/>
              </a:rPr>
              <a:t>Claude Sonnet — generazione risposte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4096512"/>
            <a:ext cx="3154680" cy="685800"/>
          </a:xfrm>
          <a:prstGeom prst="rect">
            <a:avLst/>
          </a:prstGeom>
          <a:solidFill>
            <a:srgbClr val="07121E"/>
          </a:solidFill>
          <a:ln w="508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480560" y="4096512"/>
            <a:ext cx="36576" cy="685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36008" y="426110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  <a:latin typeface="Calibri"/>
              </a:rPr>
              <a:t>Files API — upload &amp; retrieval RAG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0" y="5056632"/>
            <a:ext cx="3154680" cy="685800"/>
          </a:xfrm>
          <a:prstGeom prst="rect">
            <a:avLst/>
          </a:prstGeom>
          <a:solidFill>
            <a:srgbClr val="07121E"/>
          </a:solidFill>
          <a:ln w="508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480560" y="5056632"/>
            <a:ext cx="36576" cy="685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36008" y="522122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  <a:latin typeface="Calibri"/>
              </a:rPr>
              <a:t>System prompt builder dinamico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1040" y="1325880"/>
            <a:ext cx="3429000" cy="5257800"/>
          </a:xfrm>
          <a:prstGeom prst="rect">
            <a:avLst/>
          </a:prstGeom>
          <a:solidFill>
            <a:srgbClr val="14283E"/>
          </a:solidFill>
          <a:ln w="1016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321040" y="1325880"/>
            <a:ext cx="3429000" cy="4572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58200" y="135331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2A"/>
                </a:solidFill>
                <a:latin typeface="Consolas"/>
              </a:rPr>
              <a:t>🗄  LAYER 3 — DATA &amp; PAYMENTS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181051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9F1C"/>
                </a:solidFill>
                <a:latin typeface="Calibri"/>
              </a:rPr>
              <a:t>Supabase + Stripe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58200" y="2176272"/>
            <a:ext cx="3154680" cy="685800"/>
          </a:xfrm>
          <a:prstGeom prst="rect">
            <a:avLst/>
          </a:prstGeom>
          <a:solidFill>
            <a:srgbClr val="07121E"/>
          </a:solidFill>
          <a:ln w="508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458200" y="2176272"/>
            <a:ext cx="36576" cy="6858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13648" y="234086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  <a:latin typeface="Calibri"/>
              </a:rPr>
              <a:t>PostgreSQL — utenti, agenti, config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8200" y="3136391"/>
            <a:ext cx="3154680" cy="685800"/>
          </a:xfrm>
          <a:prstGeom prst="rect">
            <a:avLst/>
          </a:prstGeom>
          <a:solidFill>
            <a:srgbClr val="07121E"/>
          </a:solidFill>
          <a:ln w="508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458200" y="3136391"/>
            <a:ext cx="36576" cy="6858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613648" y="330098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  <a:latin typeface="Calibri"/>
              </a:rPr>
              <a:t>pgvector — embeddings documenti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58200" y="4096512"/>
            <a:ext cx="3154680" cy="685800"/>
          </a:xfrm>
          <a:prstGeom prst="rect">
            <a:avLst/>
          </a:prstGeom>
          <a:solidFill>
            <a:srgbClr val="07121E"/>
          </a:solidFill>
          <a:ln w="508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458200" y="4096512"/>
            <a:ext cx="36576" cy="6858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13648" y="426110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  <a:latin typeface="Calibri"/>
              </a:rPr>
              <a:t>Storage — file originali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58200" y="5056632"/>
            <a:ext cx="3154680" cy="685800"/>
          </a:xfrm>
          <a:prstGeom prst="rect">
            <a:avLst/>
          </a:prstGeom>
          <a:solidFill>
            <a:srgbClr val="07121E"/>
          </a:solidFill>
          <a:ln w="508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458200" y="5056632"/>
            <a:ext cx="36576" cy="6858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613648" y="522122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  <a:latin typeface="Calibri"/>
              </a:rPr>
              <a:t>Stripe — piani e abbonamenti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4760" y="347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0C4"/>
                </a:solidFill>
                <a:latin typeface="Calibri"/>
              </a:rPr>
              <a:t>→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0" y="347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A0C4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188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FF"/>
                </a:solidFill>
                <a:latin typeface="Consolas"/>
              </a:rPr>
              <a:t>// FASE 1 — SETUP PROGETTO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657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Struttura repo, dipendenze e configurazione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840480" cy="5303520"/>
          </a:xfrm>
          <a:prstGeom prst="rect">
            <a:avLst/>
          </a:prstGeom>
          <a:solidFill>
            <a:srgbClr val="07121E"/>
          </a:solidFill>
          <a:ln w="6350">
            <a:solidFill>
              <a:srgbClr val="00A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840480" cy="347472"/>
          </a:xfrm>
          <a:prstGeom prst="rect">
            <a:avLst/>
          </a:prstGeom>
          <a:solidFill>
            <a:srgbClr val="1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onsolas"/>
              </a:rPr>
              <a:t>📁  Struttura del progetto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35661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850">
                <a:solidFill>
                  <a:srgbClr val="FFFFFF"/>
                </a:solidFill>
                <a:latin typeface="Consolas"/>
              </a:rPr>
              <a:t>agentforge/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0D4FF"/>
                </a:solidFill>
                <a:latin typeface="Consolas"/>
              </a:rPr>
              <a:t>├── frontend/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│   ├── src/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8AA0B8"/>
                </a:solidFill>
                <a:latin typeface="Consolas"/>
              </a:rPr>
              <a:t>│   │   ├── components/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8AA0B8"/>
                </a:solidFill>
                <a:latin typeface="Consolas"/>
              </a:rPr>
              <a:t>│   │   ├── pages/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8AA0B8"/>
                </a:solidFill>
                <a:latin typeface="Consolas"/>
              </a:rPr>
              <a:t>│   │   ├── hooks/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│   │   └── lib/api.js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8AA0B8"/>
                </a:solidFill>
                <a:latin typeface="Consolas"/>
              </a:rPr>
              <a:t>│   ├── index.html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8AA0B8"/>
                </a:solidFill>
                <a:latin typeface="Consolas"/>
              </a:rPr>
              <a:t>│   └── vite.config.js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0D4FF"/>
                </a:solidFill>
                <a:latin typeface="Consolas"/>
              </a:rPr>
              <a:t>├── backend/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│   ├── supabase/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8AA0B8"/>
                </a:solidFill>
                <a:latin typeface="Consolas"/>
              </a:rPr>
              <a:t>│   │   ├── functions/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8AA0B8"/>
                </a:solidFill>
                <a:latin typeface="Consolas"/>
              </a:rPr>
              <a:t>│   │   └── migrations/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│   └── stripe/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9F1C"/>
                </a:solidFill>
                <a:latin typeface="Consolas"/>
              </a:rPr>
              <a:t>├── .env.local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8AA0B8"/>
                </a:solidFill>
                <a:latin typeface="Consolas"/>
              </a:rPr>
              <a:t>└── README.md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7498079" cy="2468880"/>
          </a:xfrm>
          <a:prstGeom prst="rect">
            <a:avLst/>
          </a:prstGeom>
          <a:solidFill>
            <a:srgbClr val="07121E"/>
          </a:solidFill>
          <a:ln w="63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7498079" cy="347472"/>
          </a:xfrm>
          <a:prstGeom prst="rect">
            <a:avLst/>
          </a:prstGeom>
          <a:solidFill>
            <a:srgbClr val="1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353312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C39A"/>
                </a:solidFill>
                <a:latin typeface="Consolas"/>
              </a:rPr>
              <a:t>$ Terminal — Setup iniziale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737360"/>
            <a:ext cx="71323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</a:pPr>
            <a:r>
              <a:rPr sz="800">
                <a:solidFill>
                  <a:srgbClr val="8AA0B8"/>
                </a:solidFill>
                <a:latin typeface="Consolas"/>
              </a:rPr>
              <a:t># 1. Crea progetto React con Vite</a:t>
            </a:r>
          </a:p>
          <a:p>
            <a:pPr>
              <a:spcAft>
                <a:spcPts val="50"/>
              </a:spcAft>
            </a:pPr>
            <a:r>
              <a:rPr sz="800">
                <a:solidFill>
                  <a:srgbClr val="FFFFFF"/>
                </a:solidFill>
                <a:latin typeface="Consolas"/>
              </a:rPr>
              <a:t>npm create vite@latest frontend -- --template react</a:t>
            </a:r>
          </a:p>
          <a:p>
            <a:pPr>
              <a:spcAft>
                <a:spcPts val="50"/>
              </a:spcAft>
            </a:pPr>
            <a:r>
              <a:rPr sz="800">
                <a:solidFill>
                  <a:srgbClr val="FFFFFF"/>
                </a:solidFill>
                <a:latin typeface="Consolas"/>
              </a:rPr>
              <a:t>cd frontend &amp;&amp; npm install</a:t>
            </a:r>
          </a:p>
          <a:p>
            <a:pPr>
              <a:spcAft>
                <a:spcPts val="50"/>
              </a:spcAft>
            </a:pPr>
            <a:endParaRPr sz="80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50"/>
              </a:spcAft>
            </a:pPr>
            <a:r>
              <a:rPr sz="800">
                <a:solidFill>
                  <a:srgbClr val="8AA0B8"/>
                </a:solidFill>
                <a:latin typeface="Consolas"/>
              </a:rPr>
              <a:t># 2. Installa dipendenze principali</a:t>
            </a:r>
          </a:p>
          <a:p>
            <a:pPr>
              <a:spcAft>
                <a:spcPts val="50"/>
              </a:spcAft>
            </a:pPr>
            <a:r>
              <a:rPr sz="800">
                <a:solidFill>
                  <a:srgbClr val="00D4FF"/>
                </a:solidFill>
                <a:latin typeface="Consolas"/>
              </a:rPr>
              <a:t>npm install @anthropic-ai/sdk axios</a:t>
            </a:r>
          </a:p>
          <a:p>
            <a:pPr>
              <a:spcAft>
                <a:spcPts val="50"/>
              </a:spcAft>
            </a:pPr>
            <a:r>
              <a:rPr sz="800">
                <a:solidFill>
                  <a:srgbClr val="00D4FF"/>
                </a:solidFill>
                <a:latin typeface="Consolas"/>
              </a:rPr>
              <a:t>npm install @supabase/supabase-js</a:t>
            </a:r>
          </a:p>
          <a:p>
            <a:pPr>
              <a:spcAft>
                <a:spcPts val="50"/>
              </a:spcAft>
            </a:pPr>
            <a:r>
              <a:rPr sz="800">
                <a:solidFill>
                  <a:srgbClr val="00D4FF"/>
                </a:solidFill>
                <a:latin typeface="Consolas"/>
              </a:rPr>
              <a:t>npm install @stripe/stripe-js</a:t>
            </a:r>
          </a:p>
          <a:p>
            <a:pPr>
              <a:spcAft>
                <a:spcPts val="50"/>
              </a:spcAft>
            </a:pPr>
            <a:r>
              <a:rPr sz="800">
                <a:solidFill>
                  <a:srgbClr val="00D4FF"/>
                </a:solidFill>
                <a:latin typeface="Consolas"/>
              </a:rPr>
              <a:t>npm install tailwindcss autoprefixer postcss</a:t>
            </a:r>
          </a:p>
          <a:p>
            <a:pPr>
              <a:spcAft>
                <a:spcPts val="50"/>
              </a:spcAft>
            </a:pPr>
            <a:endParaRPr sz="800">
              <a:solidFill>
                <a:srgbClr val="00D4FF"/>
              </a:solidFill>
              <a:latin typeface="Consolas"/>
            </a:endParaRPr>
          </a:p>
          <a:p>
            <a:pPr>
              <a:spcAft>
                <a:spcPts val="50"/>
              </a:spcAft>
            </a:pPr>
            <a:r>
              <a:rPr sz="800">
                <a:solidFill>
                  <a:srgbClr val="8AA0B8"/>
                </a:solidFill>
                <a:latin typeface="Consolas"/>
              </a:rPr>
              <a:t># 3. Installa Supabase CLI (backend)</a:t>
            </a:r>
          </a:p>
          <a:p>
            <a:pPr>
              <a:spcAft>
                <a:spcPts val="50"/>
              </a:spcAft>
            </a:pPr>
            <a:r>
              <a:rPr sz="800">
                <a:solidFill>
                  <a:srgbClr val="02C39A"/>
                </a:solidFill>
                <a:latin typeface="Consolas"/>
              </a:rPr>
              <a:t>npm install -g supabase</a:t>
            </a:r>
          </a:p>
          <a:p>
            <a:pPr>
              <a:spcAft>
                <a:spcPts val="50"/>
              </a:spcAft>
            </a:pPr>
            <a:r>
              <a:rPr sz="800">
                <a:solidFill>
                  <a:srgbClr val="02C39A"/>
                </a:solidFill>
                <a:latin typeface="Consolas"/>
              </a:rPr>
              <a:t>supabase init &amp;&amp; supabase start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3931920"/>
            <a:ext cx="7498079" cy="2606040"/>
          </a:xfrm>
          <a:prstGeom prst="rect">
            <a:avLst/>
          </a:prstGeom>
          <a:solidFill>
            <a:srgbClr val="07121E"/>
          </a:solidFill>
          <a:ln w="63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3931920"/>
            <a:ext cx="7498079" cy="347472"/>
          </a:xfrm>
          <a:prstGeom prst="rect">
            <a:avLst/>
          </a:prstGeom>
          <a:solidFill>
            <a:srgbClr val="1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80" y="3959352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9F1C"/>
                </a:solidFill>
                <a:latin typeface="Consolas"/>
              </a:rPr>
              <a:t>📄  .env.local — Variabili d'ambiente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343400"/>
            <a:ext cx="71323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VITE_SUPABASE_URL=https://xxx.supabase.co</a:t>
            </a:r>
          </a:p>
          <a:p>
            <a:pPr>
              <a:spcAft>
                <a:spcPts val="5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VITE_SUPABASE_ANON_KEY=eyJhbGci...</a:t>
            </a:r>
          </a:p>
          <a:p>
            <a:pPr>
              <a:spcAft>
                <a:spcPts val="50"/>
              </a:spcAft>
            </a:pPr>
            <a:r>
              <a:rPr sz="850">
                <a:solidFill>
                  <a:srgbClr val="00D4FF"/>
                </a:solidFill>
                <a:latin typeface="Consolas"/>
              </a:rPr>
              <a:t>VITE_ANTHROPIC_API_KEY=sk-ant-api03-...</a:t>
            </a:r>
          </a:p>
          <a:p>
            <a:pPr>
              <a:spcAft>
                <a:spcPts val="50"/>
              </a:spcAft>
            </a:pPr>
            <a:r>
              <a:rPr sz="850">
                <a:solidFill>
                  <a:srgbClr val="F5C518"/>
                </a:solidFill>
                <a:latin typeface="Consolas"/>
              </a:rPr>
              <a:t>VITE_STRIPE_PUBLISHABLE_KEY=pk_live_...</a:t>
            </a:r>
          </a:p>
          <a:p>
            <a:pPr>
              <a:spcAft>
                <a:spcPts val="50"/>
              </a:spcAft>
            </a:pPr>
            <a:endParaRPr sz="850">
              <a:solidFill>
                <a:srgbClr val="F5C518"/>
              </a:solidFill>
              <a:latin typeface="Consolas"/>
            </a:endParaRPr>
          </a:p>
          <a:p>
            <a:pPr>
              <a:spcAft>
                <a:spcPts val="50"/>
              </a:spcAft>
            </a:pPr>
            <a:r>
              <a:rPr sz="850">
                <a:solidFill>
                  <a:srgbClr val="8AA0B8"/>
                </a:solidFill>
                <a:latin typeface="Consolas"/>
              </a:rPr>
              <a:t># Sul server (Supabase Edge Functions)</a:t>
            </a:r>
          </a:p>
          <a:p>
            <a:pPr>
              <a:spcAft>
                <a:spcPts val="50"/>
              </a:spcAft>
            </a:pPr>
            <a:r>
              <a:rPr sz="850">
                <a:solidFill>
                  <a:srgbClr val="00D4FF"/>
                </a:solidFill>
                <a:latin typeface="Consolas"/>
              </a:rPr>
              <a:t>ANTHROPIC_API_KEY=sk-ant-api03-...</a:t>
            </a:r>
          </a:p>
          <a:p>
            <a:pPr>
              <a:spcAft>
                <a:spcPts val="50"/>
              </a:spcAft>
            </a:pPr>
            <a:r>
              <a:rPr sz="850">
                <a:solidFill>
                  <a:srgbClr val="F5C518"/>
                </a:solidFill>
                <a:latin typeface="Consolas"/>
              </a:rPr>
              <a:t>STRIPE_SECRET_KEY=sk_live_...</a:t>
            </a:r>
          </a:p>
          <a:p>
            <a:pPr>
              <a:spcAft>
                <a:spcPts val="50"/>
              </a:spcAft>
            </a:pPr>
            <a:r>
              <a:rPr sz="850">
                <a:solidFill>
                  <a:srgbClr val="F5C518"/>
                </a:solidFill>
                <a:latin typeface="Consolas"/>
              </a:rPr>
              <a:t>STRIPE_WEBHOOK_SECRET=whsec_...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188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FF"/>
                </a:solidFill>
                <a:latin typeface="Consolas"/>
              </a:rPr>
              <a:t>// FASE 2 —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657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Schema Supabase (PostgreSQL + pgvector)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2743200" cy="5303520"/>
          </a:xfrm>
          <a:prstGeom prst="rect">
            <a:avLst/>
          </a:prstGeom>
          <a:solidFill>
            <a:srgbClr val="14283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2743200" cy="43891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344168"/>
            <a:ext cx="2523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D1B2A"/>
                </a:solidFill>
                <a:latin typeface="Consolas"/>
              </a:rPr>
              <a:t>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517904"/>
            <a:ext cx="25237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onsolas"/>
              </a:rPr>
              <a:t>professionals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" y="1874519"/>
            <a:ext cx="2596896" cy="694944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0352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0F8"/>
                </a:solidFill>
                <a:latin typeface="Consolas"/>
              </a:rPr>
              <a:t>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1984248"/>
            <a:ext cx="1051560" cy="237744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38528" y="2002536"/>
            <a:ext cx="1014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D4FF"/>
                </a:solidFill>
                <a:latin typeface="Consolas"/>
              </a:rPr>
              <a:t>uuid PK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0F8"/>
                </a:solidFill>
                <a:latin typeface="Consolas"/>
              </a:rPr>
              <a:t>email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2761488"/>
            <a:ext cx="1051560" cy="237744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38528" y="2779776"/>
            <a:ext cx="1014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D4FF"/>
                </a:solidFill>
                <a:latin typeface="Consolas"/>
              </a:rPr>
              <a:t>text UNIQUE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" y="3429000"/>
            <a:ext cx="2596896" cy="694944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" y="3520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0F8"/>
                </a:solidFill>
                <a:latin typeface="Consolas"/>
              </a:rPr>
              <a:t>name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0240" y="3538728"/>
            <a:ext cx="1051560" cy="237744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38528" y="3557016"/>
            <a:ext cx="1014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D4FF"/>
                </a:solidFill>
                <a:latin typeface="Consolas"/>
              </a:rPr>
              <a:t>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42976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0F8"/>
                </a:solidFill>
                <a:latin typeface="Consolas"/>
              </a:rPr>
              <a:t>plan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20240" y="4315968"/>
            <a:ext cx="1051560" cy="237744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38528" y="4334255"/>
            <a:ext cx="1014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D4FF"/>
                </a:solidFill>
                <a:latin typeface="Consolas"/>
              </a:rPr>
              <a:t>starter|pro|studio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" y="4983479"/>
            <a:ext cx="2596896" cy="694944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507491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0F8"/>
                </a:solidFill>
                <a:latin typeface="Consolas"/>
              </a:rPr>
              <a:t>stripe_customer_id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5093207"/>
            <a:ext cx="1051560" cy="237744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938528" y="5111495"/>
            <a:ext cx="1014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D4FF"/>
                </a:solidFill>
                <a:latin typeface="Consolas"/>
              </a:rPr>
              <a:t>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585215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0F8"/>
                </a:solidFill>
                <a:latin typeface="Consolas"/>
              </a:rPr>
              <a:t>created_at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20240" y="5870448"/>
            <a:ext cx="1051560" cy="237744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38528" y="5888736"/>
            <a:ext cx="1014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D4FF"/>
                </a:solidFill>
                <a:latin typeface="Consolas"/>
              </a:rPr>
              <a:t>timestamp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1325880"/>
            <a:ext cx="2743200" cy="5303520"/>
          </a:xfrm>
          <a:prstGeom prst="rect">
            <a:avLst/>
          </a:prstGeom>
          <a:solidFill>
            <a:srgbClr val="14283E"/>
          </a:solidFill>
          <a:ln w="1016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46120" y="1325880"/>
            <a:ext cx="2743200" cy="43891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55848" y="1344168"/>
            <a:ext cx="2523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D1B2A"/>
                </a:solidFill>
                <a:latin typeface="Consolas"/>
              </a:rPr>
              <a:t>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55848" y="1517904"/>
            <a:ext cx="25237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onsolas"/>
              </a:rPr>
              <a:t>agents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2560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2C39A"/>
                </a:solidFill>
                <a:latin typeface="Consolas"/>
              </a:rPr>
              <a:t>⬅  FK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19272" y="1874519"/>
            <a:ext cx="2596896" cy="694944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10712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0F8"/>
                </a:solidFill>
                <a:latin typeface="Consolas"/>
              </a:rPr>
              <a:t>id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00600" y="1984248"/>
            <a:ext cx="1051560" cy="237744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18888" y="2002536"/>
            <a:ext cx="1014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2C39A"/>
                </a:solidFill>
                <a:latin typeface="Consolas"/>
              </a:rPr>
              <a:t>uuid PK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10712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0F8"/>
                </a:solidFill>
                <a:latin typeface="Consolas"/>
              </a:rPr>
              <a:t>professional_id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00600" y="2761488"/>
            <a:ext cx="1051560" cy="237744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818888" y="2779776"/>
            <a:ext cx="1014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2C39A"/>
                </a:solidFill>
                <a:latin typeface="Consolas"/>
              </a:rPr>
              <a:t>uuid FK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19272" y="3429000"/>
            <a:ext cx="2596896" cy="694944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410712" y="3520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0F8"/>
                </a:solidFill>
                <a:latin typeface="Consolas"/>
              </a:rPr>
              <a:t>type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00600" y="3538728"/>
            <a:ext cx="1051560" cy="237744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18888" y="3557016"/>
            <a:ext cx="1014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2C39A"/>
                </a:solidFill>
                <a:latin typeface="Consolas"/>
              </a:rPr>
              <a:t>nutricoach|secretary|coach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10712" y="42976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0F8"/>
                </a:solidFill>
                <a:latin typeface="Consolas"/>
              </a:rPr>
              <a:t>name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00600" y="4315968"/>
            <a:ext cx="1051560" cy="237744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18888" y="4334255"/>
            <a:ext cx="1014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2C39A"/>
                </a:solidFill>
                <a:latin typeface="Consolas"/>
              </a:rPr>
              <a:t>text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19272" y="4983479"/>
            <a:ext cx="2596896" cy="694944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410712" y="507491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0F8"/>
                </a:solidFill>
                <a:latin typeface="Consolas"/>
              </a:rPr>
              <a:t>system_prompt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00600" y="5093207"/>
            <a:ext cx="1051560" cy="237744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818888" y="5111495"/>
            <a:ext cx="1014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2C39A"/>
                </a:solidFill>
                <a:latin typeface="Consolas"/>
              </a:rPr>
              <a:t>text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10712" y="585215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0F8"/>
                </a:solidFill>
                <a:latin typeface="Consolas"/>
              </a:rPr>
              <a:t>is_active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00600" y="5870448"/>
            <a:ext cx="1051560" cy="237744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818888" y="5888736"/>
            <a:ext cx="1014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2C39A"/>
                </a:solidFill>
                <a:latin typeface="Consolas"/>
              </a:rPr>
              <a:t>boolean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26480" y="1325880"/>
            <a:ext cx="2743200" cy="5303520"/>
          </a:xfrm>
          <a:prstGeom prst="rect">
            <a:avLst/>
          </a:prstGeom>
          <a:solidFill>
            <a:srgbClr val="14283E"/>
          </a:solidFill>
          <a:ln w="1016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126480" y="1325880"/>
            <a:ext cx="2743200" cy="43891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36208" y="1344168"/>
            <a:ext cx="2523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D1B2A"/>
                </a:solidFill>
                <a:latin typeface="Consolas"/>
              </a:rPr>
              <a:t>TABLE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36208" y="1517904"/>
            <a:ext cx="25237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onsolas"/>
              </a:rPr>
              <a:t>documents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52160" y="2560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F9F1C"/>
                </a:solidFill>
                <a:latin typeface="Consolas"/>
              </a:rPr>
              <a:t>⬅  FK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99632" y="1874519"/>
            <a:ext cx="2596896" cy="694944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291072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0F8"/>
                </a:solidFill>
                <a:latin typeface="Consolas"/>
              </a:rPr>
              <a:t>id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80960" y="1984248"/>
            <a:ext cx="1051560" cy="237744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699248" y="2002536"/>
            <a:ext cx="1014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9F1C"/>
                </a:solidFill>
                <a:latin typeface="Consolas"/>
              </a:rPr>
              <a:t>uuid PK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91072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0F8"/>
                </a:solidFill>
                <a:latin typeface="Consolas"/>
              </a:rPr>
              <a:t>agent_id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680960" y="2761488"/>
            <a:ext cx="1051560" cy="237744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699248" y="2779776"/>
            <a:ext cx="1014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9F1C"/>
                </a:solidFill>
                <a:latin typeface="Consolas"/>
              </a:rPr>
              <a:t>uuid FK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99632" y="3429000"/>
            <a:ext cx="2596896" cy="694944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291072" y="3520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0F8"/>
                </a:solidFill>
                <a:latin typeface="Consolas"/>
              </a:rPr>
              <a:t>filename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680960" y="3538728"/>
            <a:ext cx="1051560" cy="237744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699248" y="3557016"/>
            <a:ext cx="1014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9F1C"/>
                </a:solidFill>
                <a:latin typeface="Consolas"/>
              </a:rPr>
              <a:t>text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91072" y="42976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0F8"/>
                </a:solidFill>
                <a:latin typeface="Consolas"/>
              </a:rPr>
              <a:t>file_type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80960" y="4315968"/>
            <a:ext cx="1051560" cy="237744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699248" y="4334255"/>
            <a:ext cx="1014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9F1C"/>
                </a:solidFill>
                <a:latin typeface="Consolas"/>
              </a:rPr>
              <a:t>text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199632" y="4983479"/>
            <a:ext cx="2596896" cy="694944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291072" y="507491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0F8"/>
                </a:solidFill>
                <a:latin typeface="Consolas"/>
              </a:rPr>
              <a:t>anthropic_file_id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680960" y="5093207"/>
            <a:ext cx="1051560" cy="237744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7699248" y="5111495"/>
            <a:ext cx="1014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9F1C"/>
                </a:solidFill>
                <a:latin typeface="Consolas"/>
              </a:rPr>
              <a:t>text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91072" y="585215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0F8"/>
                </a:solidFill>
                <a:latin typeface="Consolas"/>
              </a:rPr>
              <a:t>uploaded_at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680960" y="5870448"/>
            <a:ext cx="1051560" cy="237744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699248" y="5888736"/>
            <a:ext cx="1014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9F1C"/>
                </a:solidFill>
                <a:latin typeface="Consolas"/>
              </a:rPr>
              <a:t>timestamp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006840" y="1325880"/>
            <a:ext cx="2743200" cy="5303520"/>
          </a:xfrm>
          <a:prstGeom prst="rect">
            <a:avLst/>
          </a:prstGeom>
          <a:solidFill>
            <a:srgbClr val="14283E"/>
          </a:solidFill>
          <a:ln w="1016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9006840" y="1325880"/>
            <a:ext cx="2743200" cy="43891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116567" y="1344168"/>
            <a:ext cx="2523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0D1B2A"/>
                </a:solidFill>
                <a:latin typeface="Consolas"/>
              </a:rPr>
              <a:t>TABLE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16567" y="1517904"/>
            <a:ext cx="2523744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onsolas"/>
              </a:rPr>
              <a:t>conversations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32519" y="25603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F5C518"/>
                </a:solidFill>
                <a:latin typeface="Consolas"/>
              </a:rPr>
              <a:t>⬅  FK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079992" y="1874519"/>
            <a:ext cx="2596896" cy="694944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171432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0F8"/>
                </a:solidFill>
                <a:latin typeface="Consolas"/>
              </a:rPr>
              <a:t>id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561319" y="1984248"/>
            <a:ext cx="1051560" cy="237744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0579608" y="2002536"/>
            <a:ext cx="1014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5C518"/>
                </a:solidFill>
                <a:latin typeface="Consolas"/>
              </a:rPr>
              <a:t>uuid PK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171432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0F8"/>
                </a:solidFill>
                <a:latin typeface="Consolas"/>
              </a:rPr>
              <a:t>agent_id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561319" y="2761488"/>
            <a:ext cx="1051560" cy="237744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579608" y="2779776"/>
            <a:ext cx="1014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5C518"/>
                </a:solidFill>
                <a:latin typeface="Consolas"/>
              </a:rPr>
              <a:t>uuid FK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079992" y="3429000"/>
            <a:ext cx="2596896" cy="694944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171432" y="3520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0F8"/>
                </a:solidFill>
                <a:latin typeface="Consolas"/>
              </a:rPr>
              <a:t>session_id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561319" y="3538728"/>
            <a:ext cx="1051560" cy="237744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10579608" y="3557016"/>
            <a:ext cx="1014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5C518"/>
                </a:solidFill>
                <a:latin typeface="Consolas"/>
              </a:rPr>
              <a:t>text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171432" y="42976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0F8"/>
                </a:solidFill>
                <a:latin typeface="Consolas"/>
              </a:rPr>
              <a:t>messages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561319" y="4315968"/>
            <a:ext cx="1051560" cy="237744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0579608" y="4334255"/>
            <a:ext cx="1014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5C518"/>
                </a:solidFill>
                <a:latin typeface="Consolas"/>
              </a:rPr>
              <a:t>jsonb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079992" y="4983479"/>
            <a:ext cx="2596896" cy="694944"/>
          </a:xfrm>
          <a:prstGeom prst="rect">
            <a:avLst/>
          </a:prstGeom>
          <a:solidFill>
            <a:srgbClr val="10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171432" y="507491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0F8"/>
                </a:solidFill>
                <a:latin typeface="Consolas"/>
              </a:rPr>
              <a:t>created_at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561319" y="5093207"/>
            <a:ext cx="1051560" cy="237744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0579608" y="5111495"/>
            <a:ext cx="1014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5C518"/>
                </a:solidFill>
                <a:latin typeface="Consolas"/>
              </a:rPr>
              <a:t>timestamp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171432" y="585215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F0F8"/>
                </a:solidFill>
                <a:latin typeface="Consolas"/>
              </a:rPr>
              <a:t>metadata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561319" y="5870448"/>
            <a:ext cx="1051560" cy="237744"/>
          </a:xfrm>
          <a:prstGeom prst="rect">
            <a:avLst/>
          </a:prstGeom>
          <a:solidFill>
            <a:srgbClr val="06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0579608" y="5888736"/>
            <a:ext cx="10149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5C518"/>
                </a:solidFill>
                <a:latin typeface="Consolas"/>
              </a:rPr>
              <a:t>jsonb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solidFill>
            <a:srgbClr val="0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502920" y="6519672"/>
            <a:ext cx="11155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2C39A"/>
                </a:solidFill>
                <a:latin typeface="Calibri"/>
              </a:rPr>
              <a:t>🔒  Row Level Security (RLS) abilitato: ogni professionista vede SOLO i propri agenti, documenti e conversazioni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188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FF"/>
                </a:solidFill>
                <a:latin typeface="Consolas"/>
              </a:rPr>
              <a:t>// FASE 3 — AUTENTICAZIONE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657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Supabase Auth — signup, login, sessioni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120640" cy="5303520"/>
          </a:xfrm>
          <a:prstGeom prst="rect">
            <a:avLst/>
          </a:prstGeom>
          <a:solidFill>
            <a:srgbClr val="14283E"/>
          </a:solidFill>
          <a:ln w="6350">
            <a:solidFill>
              <a:srgbClr val="00A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ambria"/>
              </a:rPr>
              <a:t>Flusso autenticazione</a:t>
            </a:r>
          </a:p>
        </p:txBody>
      </p:sp>
      <p:sp>
        <p:nvSpPr>
          <p:cNvPr id="8" name="Oval 7"/>
          <p:cNvSpPr/>
          <p:nvPr/>
        </p:nvSpPr>
        <p:spPr>
          <a:xfrm>
            <a:off x="530352" y="1837943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184708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1810512"/>
            <a:ext cx="4160520" cy="548640"/>
          </a:xfrm>
          <a:prstGeom prst="rect">
            <a:avLst/>
          </a:prstGeom>
          <a:solidFill>
            <a:srgbClr val="07121E"/>
          </a:solidFill>
          <a:ln w="508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192024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  <a:latin typeface="Calibri"/>
              </a:rPr>
              <a:t>Utente compila email + password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40487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FF"/>
                </a:solidFill>
                <a:latin typeface="Calibri"/>
              </a:rPr>
              <a:t>↓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" y="2505456"/>
            <a:ext cx="502920" cy="5029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251459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2478024"/>
            <a:ext cx="4160520" cy="548640"/>
          </a:xfrm>
          <a:prstGeom prst="rect">
            <a:avLst/>
          </a:prstGeom>
          <a:solidFill>
            <a:srgbClr val="07121E"/>
          </a:solidFill>
          <a:ln w="508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80160" y="258775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  <a:latin typeface="Calibri"/>
              </a:rPr>
              <a:t>supabase.auth.signUp() chiamata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307238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2C39A"/>
                </a:solidFill>
                <a:latin typeface="Calibri"/>
              </a:rPr>
              <a:t>↓</a:t>
            </a:r>
          </a:p>
        </p:txBody>
      </p:sp>
      <p:sp>
        <p:nvSpPr>
          <p:cNvPr id="18" name="Oval 17"/>
          <p:cNvSpPr/>
          <p:nvPr/>
        </p:nvSpPr>
        <p:spPr>
          <a:xfrm>
            <a:off x="530352" y="3172968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318211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3145536"/>
            <a:ext cx="4160520" cy="548640"/>
          </a:xfrm>
          <a:prstGeom prst="rect">
            <a:avLst/>
          </a:prstGeom>
          <a:solidFill>
            <a:srgbClr val="07121E"/>
          </a:solidFill>
          <a:ln w="508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80160" y="325526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  <a:latin typeface="Calibri"/>
              </a:rPr>
              <a:t>Email di verifica inviata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373989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FF"/>
                </a:solidFill>
                <a:latin typeface="Calibri"/>
              </a:rPr>
              <a:t>↓</a:t>
            </a:r>
          </a:p>
        </p:txBody>
      </p:sp>
      <p:sp>
        <p:nvSpPr>
          <p:cNvPr id="23" name="Oval 22"/>
          <p:cNvSpPr/>
          <p:nvPr/>
        </p:nvSpPr>
        <p:spPr>
          <a:xfrm>
            <a:off x="530352" y="3840480"/>
            <a:ext cx="502920" cy="5029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" y="384962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3813048"/>
            <a:ext cx="4160520" cy="548640"/>
          </a:xfrm>
          <a:prstGeom prst="rect">
            <a:avLst/>
          </a:prstGeom>
          <a:solidFill>
            <a:srgbClr val="07121E"/>
          </a:solidFill>
          <a:ln w="508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80160" y="392277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  <a:latin typeface="Calibri"/>
              </a:rPr>
              <a:t>Utente clicca link → confermato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40740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2C39A"/>
                </a:solidFill>
                <a:latin typeface="Calibri"/>
              </a:rPr>
              <a:t>↓</a:t>
            </a:r>
          </a:p>
        </p:txBody>
      </p:sp>
      <p:sp>
        <p:nvSpPr>
          <p:cNvPr id="28" name="Oval 27"/>
          <p:cNvSpPr/>
          <p:nvPr/>
        </p:nvSpPr>
        <p:spPr>
          <a:xfrm>
            <a:off x="530352" y="4507992"/>
            <a:ext cx="502920" cy="50292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0352" y="451713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4480560"/>
            <a:ext cx="4160520" cy="548640"/>
          </a:xfrm>
          <a:prstGeom prst="rect">
            <a:avLst/>
          </a:prstGeom>
          <a:solidFill>
            <a:srgbClr val="07121E"/>
          </a:solidFill>
          <a:ln w="508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80160" y="459028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  <a:latin typeface="Calibri"/>
              </a:rPr>
              <a:t>JWT token restituito al client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5074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9F1C"/>
                </a:solidFill>
                <a:latin typeface="Calibri"/>
              </a:rPr>
              <a:t>↓</a:t>
            </a:r>
          </a:p>
        </p:txBody>
      </p:sp>
      <p:sp>
        <p:nvSpPr>
          <p:cNvPr id="33" name="Oval 32"/>
          <p:cNvSpPr/>
          <p:nvPr/>
        </p:nvSpPr>
        <p:spPr>
          <a:xfrm>
            <a:off x="530352" y="5175504"/>
            <a:ext cx="502920" cy="502920"/>
          </a:xfrm>
          <a:prstGeom prst="ellipse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0352" y="51846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5148072"/>
            <a:ext cx="4160520" cy="548640"/>
          </a:xfrm>
          <a:prstGeom prst="rect">
            <a:avLst/>
          </a:prstGeom>
          <a:solidFill>
            <a:srgbClr val="07121E"/>
          </a:solidFill>
          <a:ln w="508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280160" y="52578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  <a:latin typeface="Calibri"/>
              </a:rPr>
              <a:t>Token salvato in localStorage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57424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9F1C"/>
                </a:solidFill>
                <a:latin typeface="Calibri"/>
              </a:rPr>
              <a:t>↓</a:t>
            </a:r>
          </a:p>
        </p:txBody>
      </p:sp>
      <p:sp>
        <p:nvSpPr>
          <p:cNvPr id="38" name="Oval 37"/>
          <p:cNvSpPr/>
          <p:nvPr/>
        </p:nvSpPr>
        <p:spPr>
          <a:xfrm>
            <a:off x="530352" y="5843016"/>
            <a:ext cx="502920" cy="502920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0352" y="585215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5815583"/>
            <a:ext cx="4160520" cy="548640"/>
          </a:xfrm>
          <a:prstGeom prst="rect">
            <a:avLst/>
          </a:prstGeom>
          <a:solidFill>
            <a:srgbClr val="07121E"/>
          </a:solidFill>
          <a:ln w="508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280160" y="592531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0F8"/>
                </a:solidFill>
                <a:latin typeface="Calibri"/>
              </a:rPr>
              <a:t>Ogni chiamata API porta il JWT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0" y="1325880"/>
            <a:ext cx="6172200" cy="3520440"/>
          </a:xfrm>
          <a:prstGeom prst="rect">
            <a:avLst/>
          </a:prstGeom>
          <a:solidFill>
            <a:srgbClr val="07121E"/>
          </a:solidFill>
          <a:ln w="6350">
            <a:solidFill>
              <a:srgbClr val="00A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669280" y="1325880"/>
            <a:ext cx="45720" cy="3520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806440" y="1435607"/>
            <a:ext cx="5943600" cy="3337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850">
                <a:solidFill>
                  <a:srgbClr val="8AA0B8"/>
                </a:solidFill>
                <a:latin typeface="Consolas"/>
              </a:rPr>
              <a:t>// lib/auth.js — Signup professionista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0D4FF"/>
                </a:solidFill>
                <a:latin typeface="Consolas"/>
              </a:rPr>
              <a:t>import { supabase } from './supabase'</a:t>
            </a:r>
          </a:p>
          <a:p>
            <a:pPr>
              <a:spcAft>
                <a:spcPts val="100"/>
              </a:spcAft>
            </a:pPr>
            <a:endParaRPr sz="850">
              <a:solidFill>
                <a:srgbClr val="00D4FF"/>
              </a:solidFill>
              <a:latin typeface="Consolas"/>
            </a:endParaRP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FFFF"/>
                </a:solidFill>
                <a:latin typeface="Consolas"/>
              </a:rPr>
              <a:t>export async function signUp(email, password, name) 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const { data, error } = await supabase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.auth.signUp({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    email,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    password,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  options: 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      data: { name, role: 'professional' }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  }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});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6B6B"/>
                </a:solidFill>
                <a:latin typeface="Consolas"/>
              </a:rPr>
              <a:t>  if (error) throw error;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8AA0B8"/>
                </a:solidFill>
                <a:latin typeface="Consolas"/>
              </a:rPr>
              <a:t>  // Crea record in professionals table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0D4FF"/>
                </a:solidFill>
                <a:latin typeface="Consolas"/>
              </a:rPr>
              <a:t>  await supabase.from('professionals')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.insert({ id: data.user.id,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    email, name, plan: 'starter' });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return data;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4983480"/>
            <a:ext cx="6172200" cy="1828800"/>
          </a:xfrm>
          <a:prstGeom prst="rect">
            <a:avLst/>
          </a:prstGeom>
          <a:solidFill>
            <a:srgbClr val="07121E"/>
          </a:solidFill>
          <a:ln w="6350">
            <a:solidFill>
              <a:srgbClr val="00A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669280" y="4983480"/>
            <a:ext cx="45720" cy="1828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806440" y="5093208"/>
            <a:ext cx="5943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850">
                <a:solidFill>
                  <a:srgbClr val="8AA0B8"/>
                </a:solidFill>
                <a:latin typeface="Consolas"/>
              </a:rPr>
              <a:t>// Protezione route con hook useAuth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FFFF"/>
                </a:solidFill>
                <a:latin typeface="Consolas"/>
              </a:rPr>
              <a:t>export function useAuth() 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const [user, setUser] = useState(null);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useEffect(() =&gt; 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0D4FF"/>
                </a:solidFill>
                <a:latin typeface="Consolas"/>
              </a:rPr>
              <a:t>    supabase.auth.getSession()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  .then(({ data }) =&gt;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      setUser(data.session?.user));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0D4FF"/>
                </a:solidFill>
                <a:latin typeface="Consolas"/>
              </a:rPr>
              <a:t>    supabase.auth.onAuthStateChange(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  (_, session) =&gt;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      setUser(session?.user));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}, []);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5C518"/>
                </a:solidFill>
                <a:latin typeface="Consolas"/>
              </a:rPr>
              <a:t>  return { user, isLoaded: user !== null };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188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FF"/>
                </a:solidFill>
                <a:latin typeface="Consolas"/>
              </a:rPr>
              <a:t>// FASE 4 — CORE AI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657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Claude API — chat engine + system prompt builder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303520" cy="5303520"/>
          </a:xfrm>
          <a:prstGeom prst="rect">
            <a:avLst/>
          </a:prstGeom>
          <a:solidFill>
            <a:srgbClr val="14283E"/>
          </a:solidFill>
          <a:ln w="63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Cambria"/>
              </a:rPr>
              <a:t>System Prompt Builder — come viene costruito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10512"/>
            <a:ext cx="5029200" cy="640080"/>
          </a:xfrm>
          <a:prstGeom prst="rect">
            <a:avLst/>
          </a:prstGeom>
          <a:solidFill>
            <a:srgbClr val="07121E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810512"/>
            <a:ext cx="54864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85623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  <a:latin typeface="Consolas"/>
              </a:rPr>
              <a:t>BASE 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3055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B8"/>
                </a:solidFill>
                <a:latin typeface="Calibri"/>
              </a:rPr>
              <a:t>Chi è l'agente (nutrizionista, immobiliare...)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69464"/>
            <a:ext cx="5029200" cy="640080"/>
          </a:xfrm>
          <a:prstGeom prst="rect">
            <a:avLst/>
          </a:prstGeom>
          <a:solidFill>
            <a:srgbClr val="07121E"/>
          </a:solidFill>
          <a:ln w="63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569464"/>
            <a:ext cx="54864" cy="6400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261518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2C39A"/>
                </a:solidFill>
                <a:latin typeface="Consolas"/>
              </a:rPr>
              <a:t>SPECIALIZATION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88950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B8"/>
                </a:solidFill>
                <a:latin typeface="Calibri"/>
              </a:rPr>
              <a:t>Competenze specifiche del settore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328415"/>
            <a:ext cx="5029200" cy="640080"/>
          </a:xfrm>
          <a:prstGeom prst="rect">
            <a:avLst/>
          </a:prstGeom>
          <a:solidFill>
            <a:srgbClr val="07121E"/>
          </a:solidFill>
          <a:ln w="635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3328415"/>
            <a:ext cx="54864" cy="64008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3374135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9F1C"/>
                </a:solidFill>
                <a:latin typeface="Consolas"/>
              </a:rPr>
              <a:t>PROFESSIONAL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648456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B8"/>
                </a:solidFill>
                <a:latin typeface="Calibri"/>
              </a:rPr>
              <a:t>Nome studio, città, orari, servizi offerti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87368"/>
            <a:ext cx="5029200" cy="640080"/>
          </a:xfrm>
          <a:prstGeom prst="rect">
            <a:avLst/>
          </a:prstGeom>
          <a:solidFill>
            <a:srgbClr val="07121E"/>
          </a:solidFill>
          <a:ln w="63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4087368"/>
            <a:ext cx="54864" cy="6400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4133087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C518"/>
                </a:solidFill>
                <a:latin typeface="Consolas"/>
              </a:rPr>
              <a:t>CUSTOM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407407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B8"/>
                </a:solidFill>
                <a:latin typeface="Calibri"/>
              </a:rPr>
              <a:t>Istruzioni personalizzate del professionista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846320"/>
            <a:ext cx="5029200" cy="640080"/>
          </a:xfrm>
          <a:prstGeom prst="rect">
            <a:avLst/>
          </a:prstGeom>
          <a:solidFill>
            <a:srgbClr val="07121E"/>
          </a:solidFill>
          <a:ln w="635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4846320"/>
            <a:ext cx="54864" cy="6400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48920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2C39A"/>
                </a:solidFill>
                <a:latin typeface="Consolas"/>
              </a:rPr>
              <a:t>DOCUMENT 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166359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B8"/>
                </a:solidFill>
                <a:latin typeface="Calibri"/>
              </a:rPr>
              <a:t>Estratto dai file caricati (RAG)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605271"/>
            <a:ext cx="5029200" cy="640080"/>
          </a:xfrm>
          <a:prstGeom prst="rect">
            <a:avLst/>
          </a:prstGeom>
          <a:solidFill>
            <a:srgbClr val="07121E"/>
          </a:solidFill>
          <a:ln w="63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02920" y="5605271"/>
            <a:ext cx="54864" cy="640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" y="5650991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6B6B"/>
                </a:solidFill>
                <a:latin typeface="Consolas"/>
              </a:rPr>
              <a:t>GUARDRAILS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925311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A0B8"/>
                </a:solidFill>
                <a:latin typeface="Calibri"/>
              </a:rPr>
              <a:t>Cosa NON fare (rimanda al professionista)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0" y="1325880"/>
            <a:ext cx="5989320" cy="3657600"/>
          </a:xfrm>
          <a:prstGeom prst="rect">
            <a:avLst/>
          </a:prstGeom>
          <a:solidFill>
            <a:srgbClr val="07121E"/>
          </a:solidFill>
          <a:ln w="6350">
            <a:solidFill>
              <a:srgbClr val="00A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852160" y="1325880"/>
            <a:ext cx="45720" cy="3657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89320" y="1435607"/>
            <a:ext cx="57607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850">
                <a:solidFill>
                  <a:srgbClr val="8AA0B8"/>
                </a:solidFill>
                <a:latin typeface="Consolas"/>
              </a:rPr>
              <a:t>// lib/claude.js — Chat engine principale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FFFF"/>
                </a:solidFill>
                <a:latin typeface="Consolas"/>
              </a:rPr>
              <a:t>export async function chat(messages, agent, files) 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const systemPrompt = buildSystemPrompt(agent);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8AA0B8"/>
                </a:solidFill>
                <a:latin typeface="Consolas"/>
              </a:rPr>
              <a:t>  // Aggiungi contesto documenti (RAG)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const apiMessages = buildMessages(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  messages, files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0D4FF"/>
                </a:solidFill>
                <a:latin typeface="Consolas"/>
              </a:rPr>
              <a:t>  const response = await anthropic.messages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.create({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    model: 'claude-sonnet-4-20250514',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  max_tokens: 1024,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9F1C"/>
                </a:solidFill>
                <a:latin typeface="Consolas"/>
              </a:rPr>
              <a:t>      system: systemPrompt,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    messages: apiMessages,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});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5C518"/>
                </a:solidFill>
                <a:latin typeface="Consolas"/>
              </a:rPr>
              <a:t>  return response.content[0].text;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5120640"/>
            <a:ext cx="5989320" cy="1691640"/>
          </a:xfrm>
          <a:prstGeom prst="rect">
            <a:avLst/>
          </a:prstGeom>
          <a:solidFill>
            <a:srgbClr val="07121E"/>
          </a:solidFill>
          <a:ln w="6350">
            <a:solidFill>
              <a:srgbClr val="00A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852160" y="5120640"/>
            <a:ext cx="45720" cy="16916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89320" y="5230368"/>
            <a:ext cx="576072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850">
                <a:solidFill>
                  <a:srgbClr val="8AA0B8"/>
                </a:solidFill>
                <a:latin typeface="Consolas"/>
              </a:rPr>
              <a:t>// buildMessages — inietta file come contesto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FFFF"/>
                </a:solidFill>
                <a:latin typeface="Consolas"/>
              </a:rPr>
              <a:t>function buildMessages(history, files) 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return history.map((msg, i) =&gt; 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if (i === 0 &amp;&amp; msg.role === 'user') 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  const content = [];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0D4FF"/>
                </a:solidFill>
                <a:latin typeface="Consolas"/>
              </a:rPr>
              <a:t>      files.forEach(f =&gt; content.push({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      type: 'document',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      source: { type: 'file',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        file_id: f.anthropic_file_id }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0D4FF"/>
                </a:solidFill>
                <a:latin typeface="Consolas"/>
              </a:rPr>
              <a:t>      }));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  content.push({type:'text', text:msg.content});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5C518"/>
                </a:solidFill>
                <a:latin typeface="Consolas"/>
              </a:rPr>
              <a:t>      return { role:'user', content };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}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return msg;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});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188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FF"/>
                </a:solidFill>
                <a:latin typeface="Consolas"/>
              </a:rPr>
              <a:t>// FASE 5 — RAG CON FILES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657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Upload documenti → contesto AI → risposte personalizzate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1783080" cy="2651760"/>
          </a:xfrm>
          <a:prstGeom prst="rect">
            <a:avLst/>
          </a:prstGeom>
          <a:solidFill>
            <a:srgbClr val="14283E"/>
          </a:solidFill>
          <a:ln w="889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1783080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135331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2A"/>
                </a:solidFill>
                <a:latin typeface="Calibri"/>
              </a:rPr>
              <a:t>📂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810512"/>
            <a:ext cx="16276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Professionista
catica file
(PDF/XLSX/IMG)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40280" y="1325880"/>
            <a:ext cx="1783080" cy="2651760"/>
          </a:xfrm>
          <a:prstGeom prst="rect">
            <a:avLst/>
          </a:prstGeom>
          <a:solidFill>
            <a:srgbClr val="14283E"/>
          </a:solidFill>
          <a:ln w="889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40280" y="1325880"/>
            <a:ext cx="1783080" cy="3840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31720" y="135331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2A"/>
                </a:solidFill>
                <a:latin typeface="Calibri"/>
              </a:rPr>
              <a:t>📡 Ingest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810512"/>
            <a:ext cx="16276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POST /v1/files
Anthropic Files API
Ritorna file_id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325880"/>
            <a:ext cx="1783080" cy="2651760"/>
          </a:xfrm>
          <a:prstGeom prst="rect">
            <a:avLst/>
          </a:prstGeom>
          <a:solidFill>
            <a:srgbClr val="14283E"/>
          </a:solidFill>
          <a:ln w="889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60520" y="1325880"/>
            <a:ext cx="1783080" cy="38404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51959" y="135331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2A"/>
                </a:solidFill>
                <a:latin typeface="Calibri"/>
              </a:rPr>
              <a:t>💾 Save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59" y="1810512"/>
            <a:ext cx="16276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Salva file_id
in Supabase
tabella documents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F1C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1325880"/>
            <a:ext cx="1783080" cy="2651760"/>
          </a:xfrm>
          <a:prstGeom prst="rect">
            <a:avLst/>
          </a:prstGeom>
          <a:solidFill>
            <a:srgbClr val="14283E"/>
          </a:solidFill>
          <a:ln w="889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80760" y="1325880"/>
            <a:ext cx="1783080" cy="38404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72200" y="135331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2A"/>
                </a:solidFill>
                <a:latin typeface="Calibri"/>
              </a:rPr>
              <a:t>💬 Query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1810512"/>
            <a:ext cx="16276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Paziente invia
una domanda
all'agente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C518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01000" y="1325880"/>
            <a:ext cx="1783080" cy="2651760"/>
          </a:xfrm>
          <a:prstGeom prst="rect">
            <a:avLst/>
          </a:prstGeom>
          <a:solidFill>
            <a:srgbClr val="14283E"/>
          </a:solidFill>
          <a:ln w="889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01000" y="1325880"/>
            <a:ext cx="1783080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92440" y="135331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2A"/>
                </a:solidFill>
                <a:latin typeface="Calibri"/>
              </a:rPr>
              <a:t>🔍 Retrieve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1810512"/>
            <a:ext cx="16276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Carica file_id
dal DB per
quell'agente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21240" y="1325880"/>
            <a:ext cx="1783080" cy="2651760"/>
          </a:xfrm>
          <a:prstGeom prst="rect">
            <a:avLst/>
          </a:prstGeom>
          <a:solidFill>
            <a:srgbClr val="14283E"/>
          </a:solidFill>
          <a:ln w="889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921240" y="1325880"/>
            <a:ext cx="1783080" cy="3840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012680" y="1353312"/>
            <a:ext cx="1600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1B2A"/>
                </a:solidFill>
                <a:latin typeface="Calibri"/>
              </a:rPr>
              <a:t>🤖 Generate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1810512"/>
            <a:ext cx="16276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Claude riceve
doc + domanda
e risponde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114800"/>
            <a:ext cx="5760720" cy="2651760"/>
          </a:xfrm>
          <a:prstGeom prst="rect">
            <a:avLst/>
          </a:prstGeom>
          <a:solidFill>
            <a:srgbClr val="07121E"/>
          </a:solidFill>
          <a:ln w="6350">
            <a:solidFill>
              <a:srgbClr val="00A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0040" y="4114800"/>
            <a:ext cx="45720" cy="2651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4224528"/>
            <a:ext cx="5532120" cy="2468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850">
                <a:solidFill>
                  <a:srgbClr val="8AA0B8"/>
                </a:solidFill>
                <a:latin typeface="Consolas"/>
              </a:rPr>
              <a:t>// Upload file su Anthropic Files API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FFFF"/>
                </a:solidFill>
                <a:latin typeface="Consolas"/>
              </a:rPr>
              <a:t>export async function uploadFile(file, supabaseToken) 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const formData = new FormData();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formData.append('file', file);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8AA0B8"/>
                </a:solidFill>
                <a:latin typeface="Consolas"/>
              </a:rPr>
              <a:t>  // Chiamata proxied via Edge Function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6B6B"/>
                </a:solidFill>
                <a:latin typeface="Consolas"/>
              </a:rPr>
              <a:t>  // (la API key non esce mai dal browser!)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const res = await fetch('/api/files/upload',{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method: 'POST',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9F1C"/>
                </a:solidFill>
                <a:latin typeface="Consolas"/>
              </a:rPr>
              <a:t>    headers: { Authorization: `Bearer ${supabaseToken}` },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  body: formData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});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5C518"/>
                </a:solidFill>
                <a:latin typeface="Consolas"/>
              </a:rPr>
              <a:t>  const { file_id } = await res.json();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8AA0B8"/>
                </a:solidFill>
                <a:latin typeface="Consolas"/>
              </a:rPr>
              <a:t>  // Salva in DB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0D4FF"/>
                </a:solidFill>
                <a:latin typeface="Consolas"/>
              </a:rPr>
              <a:t>  await supabase.from('documents').insert({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  agent_id, filename: file.name,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  anthropic_file_id: file_id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});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114800"/>
            <a:ext cx="5623560" cy="2651760"/>
          </a:xfrm>
          <a:prstGeom prst="rect">
            <a:avLst/>
          </a:prstGeom>
          <a:solidFill>
            <a:srgbClr val="07121E"/>
          </a:solidFill>
          <a:ln w="6350">
            <a:solidFill>
              <a:srgbClr val="00A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17920" y="4114800"/>
            <a:ext cx="45720" cy="26517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55080" y="4224528"/>
            <a:ext cx="5394960" cy="2468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850">
                <a:solidFill>
                  <a:srgbClr val="8AA0B8"/>
                </a:solidFill>
                <a:latin typeface="Consolas"/>
              </a:rPr>
              <a:t>// supabase/functions/upload-file/index.ts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8AA0B8"/>
                </a:solidFill>
                <a:latin typeface="Consolas"/>
              </a:rPr>
              <a:t>// Edge Function — API key server-side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FFFF"/>
                </a:solidFill>
                <a:latin typeface="Consolas"/>
              </a:rPr>
              <a:t>serve(async (req) =&gt; 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const formData = await req.formData();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const file = formData.get('file');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const res = await fetch(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0D4FF"/>
                </a:solidFill>
                <a:latin typeface="Consolas"/>
              </a:rPr>
              <a:t>    'https://api.anthropic.com/v1/files',{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method:'POST',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headers:{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9F1C"/>
                </a:solidFill>
                <a:latin typeface="Consolas"/>
              </a:rPr>
              <a:t>      'x-api-key': Deno.env.get('ANTHROPIC_API_KEY'),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9F1C"/>
                </a:solidFill>
                <a:latin typeface="Consolas"/>
              </a:rPr>
              <a:t>      'anthropic-beta': 'files-api-2025-04-14'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},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  body: new FormData(){{append('file', file)}}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});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5C518"/>
                </a:solidFill>
                <a:latin typeface="Consolas"/>
              </a:rPr>
              <a:t>  return new Response(JSON.stringify(await res.json()));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FFFF"/>
                </a:solidFill>
                <a:latin typeface="Consolas"/>
              </a:rPr>
              <a:t>});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188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FF"/>
                </a:solidFill>
                <a:latin typeface="Consolas"/>
              </a:rPr>
              <a:t>// FASE 6 —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657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Pannello Admin: routing, componenti, stato globale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4206240" cy="5303520"/>
          </a:xfrm>
          <a:prstGeom prst="rect">
            <a:avLst/>
          </a:prstGeom>
          <a:solidFill>
            <a:srgbClr val="07121E"/>
          </a:solidFill>
          <a:ln w="6350">
            <a:solidFill>
              <a:srgbClr val="00A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4206240" cy="347472"/>
          </a:xfrm>
          <a:prstGeom prst="rect">
            <a:avLst/>
          </a:prstGeom>
          <a:solidFill>
            <a:srgbClr val="1E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onsolas"/>
              </a:rPr>
              <a:t>🧩  Albero componenti React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3977639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"/>
              </a:spcAft>
            </a:pPr>
            <a:r>
              <a:rPr sz="850">
                <a:solidFill>
                  <a:srgbClr val="FFFFFF"/>
                </a:solidFill>
                <a:latin typeface="Consolas"/>
              </a:rPr>
              <a:t>&lt;App /&gt;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00D4FF"/>
                </a:solidFill>
                <a:latin typeface="Consolas"/>
              </a:rPr>
              <a:t>├── &lt;Router&gt;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│   ├── /  →  &lt;LandingPage&gt;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│   ├── /signup  →  &lt;Auth&gt;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F9F1C"/>
                </a:solidFill>
                <a:latin typeface="Consolas"/>
              </a:rPr>
              <a:t>│   ├── /admin  →  (privata)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│   │   ├── &lt;AgentList&gt;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│   │   ├── &lt;AgentEditor&gt;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│   │   ├── &lt;DocumentUpload&gt;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│   │   └── &lt;Analytics&gt;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5C518"/>
                </a:solidFill>
                <a:latin typeface="Consolas"/>
              </a:rPr>
              <a:t>│   └── /chat/:id  →  (pubblica)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00D4FF"/>
                </a:solidFill>
                <a:latin typeface="Consolas"/>
              </a:rPr>
              <a:t>│       ├── &lt;ChatHeader&gt;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00D4FF"/>
                </a:solidFill>
                <a:latin typeface="Consolas"/>
              </a:rPr>
              <a:t>│       ├── &lt;MessageList&gt;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00D4FF"/>
                </a:solidFill>
                <a:latin typeface="Consolas"/>
              </a:rPr>
              <a:t>│       └── &lt;ChatInput&gt;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F9F1C"/>
                </a:solidFill>
                <a:latin typeface="Consolas"/>
              </a:rPr>
              <a:t>└── &lt;AuthProvider&gt;</a:t>
            </a:r>
          </a:p>
          <a:p>
            <a:pPr>
              <a:spcAft>
                <a:spcPts val="150"/>
              </a:spcAft>
            </a:pPr>
            <a:r>
              <a:rPr sz="850">
                <a:solidFill>
                  <a:srgbClr val="FF9F1C"/>
                </a:solidFill>
                <a:latin typeface="Consolas"/>
              </a:rPr>
              <a:t>    └── &lt;SupabaseProvider&gt;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325880"/>
            <a:ext cx="7086600" cy="4114800"/>
          </a:xfrm>
          <a:prstGeom prst="rect">
            <a:avLst/>
          </a:prstGeom>
          <a:solidFill>
            <a:srgbClr val="07121E"/>
          </a:solidFill>
          <a:ln w="6350">
            <a:solidFill>
              <a:srgbClr val="00A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0" y="1325880"/>
            <a:ext cx="45720" cy="4114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1435607"/>
            <a:ext cx="685800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850">
                <a:solidFill>
                  <a:srgbClr val="8AA0B8"/>
                </a:solidFill>
                <a:latin typeface="Consolas"/>
              </a:rPr>
              <a:t>// pages/Admin.jsx — Pannello del professionista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FFFF"/>
                </a:solidFill>
                <a:latin typeface="Consolas"/>
              </a:rPr>
              <a:t>export default function Admin() 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0D4FF"/>
                </a:solidFill>
                <a:latin typeface="Consolas"/>
              </a:rPr>
              <a:t>  const { user } = useAuth();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const [agents, setAgents] = useState([]);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const [activeAgent, setActiveAgent]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= useState(null);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useEffect(() =&gt; 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0D4FF"/>
                </a:solidFill>
                <a:latin typeface="Consolas"/>
              </a:rPr>
              <a:t>    supabase.from('agents')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    .select('*')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    .eq('professional_id', user.id)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    .then(({ data }) =&gt; setAgents(data));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}, [user.id]);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FFFF"/>
                </a:solidFill>
                <a:latin typeface="Consolas"/>
              </a:rPr>
              <a:t>  return (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&lt;div className='admin-layout'&gt;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0D4FF"/>
                </a:solidFill>
                <a:latin typeface="Consolas"/>
              </a:rPr>
              <a:t>      &lt;Sidebar agents={agents}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0D4FF"/>
                </a:solidFill>
                <a:latin typeface="Consolas"/>
              </a:rPr>
              <a:t>        onSelect={setActiveAgent} /&gt;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    &lt;AgentEditor agent={activeAgent} /&gt;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&lt;/div&gt;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5577840"/>
            <a:ext cx="7086600" cy="1234440"/>
          </a:xfrm>
          <a:prstGeom prst="rect">
            <a:avLst/>
          </a:prstGeom>
          <a:solidFill>
            <a:srgbClr val="07121E"/>
          </a:solidFill>
          <a:ln w="6350">
            <a:solidFill>
              <a:srgbClr val="00A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54880" y="5577840"/>
            <a:ext cx="45720" cy="1234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92040" y="5687568"/>
            <a:ext cx="68580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850">
                <a:solidFill>
                  <a:srgbClr val="8AA0B8"/>
                </a:solidFill>
                <a:latin typeface="Consolas"/>
              </a:rPr>
              <a:t>// Routing con protezione autenticazione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FFFF"/>
                </a:solidFill>
                <a:latin typeface="Consolas"/>
              </a:rPr>
              <a:t>function PrivateRoute({ children }) 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0D4FF"/>
                </a:solidFill>
                <a:latin typeface="Consolas"/>
              </a:rPr>
              <a:t>  const { user, isLoaded } = useAuth();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9F1C"/>
                </a:solidFill>
                <a:latin typeface="Consolas"/>
              </a:rPr>
              <a:t>  if (!isLoaded) return &lt;Spinner /&gt;;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6B6B"/>
                </a:solidFill>
                <a:latin typeface="Consolas"/>
              </a:rPr>
              <a:t>  if (!user) return &lt;Navigate to='/signup' /&gt;;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return children;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188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FF"/>
                </a:solidFill>
                <a:latin typeface="Consolas"/>
              </a:rPr>
              <a:t>// FASE 7 — PAYMENTS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657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Stripe — piani, checkout, webhook, upgrade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719072" cy="1325880"/>
          </a:xfrm>
          <a:prstGeom prst="rect">
            <a:avLst/>
          </a:prstGeom>
          <a:solidFill>
            <a:srgbClr val="14283E"/>
          </a:solidFill>
          <a:ln w="889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1536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Cambria"/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19072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€99 + €29/m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93392"/>
            <a:ext cx="1536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A0B8"/>
                </a:solidFill>
                <a:latin typeface="Consolas"/>
              </a:rPr>
              <a:t>price_starter_...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79" y="1325880"/>
            <a:ext cx="1719072" cy="1325880"/>
          </a:xfrm>
          <a:prstGeom prst="rect">
            <a:avLst/>
          </a:prstGeom>
          <a:solidFill>
            <a:srgbClr val="14283E"/>
          </a:solidFill>
          <a:ln w="889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31720" y="1389888"/>
            <a:ext cx="1536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  <a:latin typeface="Cambria"/>
              </a:rPr>
              <a:t>Pro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719072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€199 + €59/m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1993392"/>
            <a:ext cx="1536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A0B8"/>
                </a:solidFill>
                <a:latin typeface="Consolas"/>
              </a:rPr>
              <a:t>price_pro_...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325880"/>
            <a:ext cx="1719072" cy="1325880"/>
          </a:xfrm>
          <a:prstGeom prst="rect">
            <a:avLst/>
          </a:prstGeom>
          <a:solidFill>
            <a:srgbClr val="14283E"/>
          </a:solidFill>
          <a:ln w="889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40" y="1389888"/>
            <a:ext cx="1536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  <a:latin typeface="Cambria"/>
              </a:rPr>
              <a:t>Studio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1719072"/>
            <a:ext cx="1536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€399 + €99/m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1993392"/>
            <a:ext cx="1536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A0B8"/>
                </a:solidFill>
                <a:latin typeface="Consolas"/>
              </a:rPr>
              <a:t>price_studio_...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1325880"/>
            <a:ext cx="5852160" cy="1325880"/>
          </a:xfrm>
          <a:prstGeom prst="rect">
            <a:avLst/>
          </a:prstGeom>
          <a:solidFill>
            <a:srgbClr val="14283E"/>
          </a:solidFill>
          <a:ln w="63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26480" y="1371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ambria"/>
              </a:rPr>
              <a:t>💳  Flusso Stripe Checkout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691640"/>
            <a:ext cx="5577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Frontend → crea checkout session → redirect Stripe → pagamento ok → webhook → aggiorna piano DB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88920"/>
            <a:ext cx="5577840" cy="4023360"/>
          </a:xfrm>
          <a:prstGeom prst="rect">
            <a:avLst/>
          </a:prstGeom>
          <a:solidFill>
            <a:srgbClr val="07121E"/>
          </a:solidFill>
          <a:ln w="6350">
            <a:solidFill>
              <a:srgbClr val="00A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2788920"/>
            <a:ext cx="45720" cy="40233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2898648"/>
            <a:ext cx="53492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850">
                <a:solidFill>
                  <a:srgbClr val="8AA0B8"/>
                </a:solidFill>
                <a:latin typeface="Consolas"/>
              </a:rPr>
              <a:t>// supabase/functions/create-checkout/index.ts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FFFF"/>
                </a:solidFill>
                <a:latin typeface="Consolas"/>
              </a:rPr>
              <a:t>serve(async (req) =&gt; 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const { planId, userId } = await req.json();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0D4FF"/>
                </a:solidFill>
                <a:latin typeface="Consolas"/>
              </a:rPr>
              <a:t>  const session = await stripe.checkout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.sessions.create({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    mode: 'subscription',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  line_items: [{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5C518"/>
                </a:solidFill>
                <a:latin typeface="Consolas"/>
              </a:rPr>
              <a:t>        price: planId,  // price_starter_...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    quantity: 1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  }],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    success_url: `${origin}/admin?success=1`,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  cancel_url: `${origin}/pricing`,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9F1C"/>
                </a:solidFill>
                <a:latin typeface="Consolas"/>
              </a:rPr>
              <a:t>      metadata: { userId }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});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5C518"/>
                </a:solidFill>
                <a:latin typeface="Consolas"/>
              </a:rPr>
              <a:t>  return Response.json({ url: session.url });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FFFF"/>
                </a:solidFill>
                <a:latin typeface="Consolas"/>
              </a:rPr>
              <a:t>});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2788920"/>
            <a:ext cx="5760720" cy="4023360"/>
          </a:xfrm>
          <a:prstGeom prst="rect">
            <a:avLst/>
          </a:prstGeom>
          <a:solidFill>
            <a:srgbClr val="07121E"/>
          </a:solidFill>
          <a:ln w="6350">
            <a:solidFill>
              <a:srgbClr val="00A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80760" y="2788920"/>
            <a:ext cx="45720" cy="40233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2898648"/>
            <a:ext cx="55321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850">
                <a:solidFill>
                  <a:srgbClr val="8AA0B8"/>
                </a:solidFill>
                <a:latin typeface="Consolas"/>
              </a:rPr>
              <a:t>// supabase/functions/stripe-webhook/index.ts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FFFF"/>
                </a:solidFill>
                <a:latin typeface="Consolas"/>
              </a:rPr>
              <a:t>serve(async (req) =&gt; 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const sig = req.headers.get('stripe-signature');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0D4FF"/>
                </a:solidFill>
                <a:latin typeface="Consolas"/>
              </a:rPr>
              <a:t>  const event = stripe.webhooks.constructEvent(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  await req.text(), sig,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9F1C"/>
                </a:solidFill>
                <a:latin typeface="Consolas"/>
              </a:rPr>
              <a:t>    Deno.env.get('STRIPE_WEBHOOK_SECRET')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FFFF"/>
                </a:solidFill>
                <a:latin typeface="Consolas"/>
              </a:rPr>
              <a:t>  if (event.type === 'checkout.session.completed') {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  const { userId } = event.data.object.metadata;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0D4FF"/>
                </a:solidFill>
                <a:latin typeface="Consolas"/>
              </a:rPr>
              <a:t>    const plan = getPlanFromPrice(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    event.data.object.amount_total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0D4FF"/>
                </a:solidFill>
                <a:latin typeface="Consolas"/>
              </a:rPr>
              <a:t>    await supabase.from('professionals')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    .update({ plan, stripe_customer_id })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    .eq('id', userId);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}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FFFF"/>
                </a:solidFill>
                <a:latin typeface="Consolas"/>
              </a:rPr>
              <a:t>});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188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FF"/>
                </a:solidFill>
                <a:latin typeface="Consolas"/>
              </a:rPr>
              <a:t>// FASE 8 — ADATTAMENTO AL VERTICALE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657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Come il framework viene specializzato per ogni settore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657600" cy="5303520"/>
          </a:xfrm>
          <a:prstGeom prst="rect">
            <a:avLst/>
          </a:prstGeom>
          <a:solidFill>
            <a:srgbClr val="14283E"/>
          </a:solidFill>
          <a:ln w="1016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657600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533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onsolas"/>
              </a:rPr>
              <a:t>🔩  CORE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1051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2C39A"/>
                </a:solidFill>
                <a:latin typeface="Calibri"/>
              </a:rPr>
              <a:t>Immutabile per ogni verticale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76272"/>
            <a:ext cx="3383280" cy="402336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224942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■  Auth (Supabase)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651760"/>
            <a:ext cx="3383280" cy="402336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272491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■  Database schema 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127248"/>
            <a:ext cx="3383280" cy="402336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3200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■  Files API upload/retrieve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602736"/>
            <a:ext cx="3383280" cy="402336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3675887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■  Chat engine (Claude)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78224"/>
            <a:ext cx="3383280" cy="402336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41513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■  Stripe payments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553712"/>
            <a:ext cx="3383280" cy="402336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46268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■  Admin panel UI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029200"/>
            <a:ext cx="3383280" cy="402336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" y="51023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■  Chat widget UI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504688"/>
            <a:ext cx="3383280" cy="402336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" y="5577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■  Analytics dashboard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980176"/>
            <a:ext cx="3383280" cy="402336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" y="605332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■  Deploy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3566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D4FF"/>
                </a:solidFill>
                <a:latin typeface="Calibri"/>
              </a:rPr>
              <a:t>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1325880"/>
            <a:ext cx="3474720" cy="5303520"/>
          </a:xfrm>
          <a:prstGeom prst="rect">
            <a:avLst/>
          </a:prstGeom>
          <a:solidFill>
            <a:srgbClr val="14283E"/>
          </a:solidFill>
          <a:ln w="1016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617720" y="1325880"/>
            <a:ext cx="3474720" cy="41148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0" y="13533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onsolas"/>
              </a:rPr>
              <a:t>🎛  CONFIG VERTICALE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18105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9F1C"/>
                </a:solidFill>
                <a:latin typeface="Calibri"/>
              </a:rPr>
              <a:t>Cambia per ogni settore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2176272"/>
            <a:ext cx="3200400" cy="548640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64608" y="2221991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9F1C"/>
                </a:solidFill>
                <a:latin typeface="Consolas"/>
              </a:rPr>
              <a:t>agentTypes[]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4608" y="2468879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0B8"/>
                </a:solidFill>
                <a:latin typeface="Calibri"/>
              </a:rPr>
              <a:t>Tipi di agenti specifici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2816352"/>
            <a:ext cx="3200400" cy="548640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64608" y="2862072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9F1C"/>
                </a:solidFill>
                <a:latin typeface="Consolas"/>
              </a:rPr>
              <a:t>systemPrompts{}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64608" y="310896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0B8"/>
                </a:solidFill>
                <a:latin typeface="Calibri"/>
              </a:rPr>
              <a:t>Prompt per ogni agente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4880" y="3456432"/>
            <a:ext cx="3200400" cy="548640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64608" y="3502151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9F1C"/>
                </a:solidFill>
                <a:latin typeface="Consolas"/>
              </a:rPr>
              <a:t>documentTypes[]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64608" y="3749039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0B8"/>
                </a:solidFill>
                <a:latin typeface="Calibri"/>
              </a:rPr>
              <a:t>Tipi di file accettati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54880" y="4096511"/>
            <a:ext cx="3200400" cy="548640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64608" y="4142231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9F1C"/>
                </a:solidFill>
                <a:latin typeface="Consolas"/>
              </a:rPr>
              <a:t>suggestions[]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64608" y="438912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0B8"/>
                </a:solidFill>
                <a:latin typeface="Calibri"/>
              </a:rPr>
              <a:t>Domande rapide di default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54880" y="4736592"/>
            <a:ext cx="3200400" cy="548640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864608" y="4782312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9F1C"/>
                </a:solidFill>
                <a:latin typeface="Consolas"/>
              </a:rPr>
              <a:t>colorTheme{}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64608" y="5029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0B8"/>
                </a:solidFill>
                <a:latin typeface="Calibri"/>
              </a:rPr>
              <a:t>Palette colori del settore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54880" y="5376672"/>
            <a:ext cx="3200400" cy="548640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64608" y="5422392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9F1C"/>
                </a:solidFill>
                <a:latin typeface="Consolas"/>
              </a:rPr>
              <a:t>planFeatures{}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64608" y="56692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0B8"/>
                </a:solidFill>
                <a:latin typeface="Calibri"/>
              </a:rPr>
              <a:t>Feature per ogni piano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54880" y="6016751"/>
            <a:ext cx="3200400" cy="548640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864608" y="6062471"/>
            <a:ext cx="2926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9F1C"/>
                </a:solidFill>
                <a:latin typeface="Consolas"/>
              </a:rPr>
              <a:t>onboardingSteps[]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64608" y="6309359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A0B8"/>
                </a:solidFill>
                <a:latin typeface="Calibri"/>
              </a:rPr>
              <a:t>Guida setup specifica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92440" y="3566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D4FF"/>
                </a:solidFill>
                <a:latin typeface="Calibri"/>
              </a:rPr>
              <a:t>=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86800" y="1325880"/>
            <a:ext cx="3154680" cy="5303520"/>
          </a:xfrm>
          <a:prstGeom prst="rect">
            <a:avLst/>
          </a:prstGeom>
          <a:solidFill>
            <a:srgbClr val="14283E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8686800" y="1325880"/>
            <a:ext cx="315468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823960" y="1353312"/>
            <a:ext cx="2880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onsolas"/>
              </a:rPr>
              <a:t>🚀  PRODOTTI VERTICALI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23960" y="1874519"/>
            <a:ext cx="2880360" cy="640080"/>
          </a:xfrm>
          <a:prstGeom prst="rect">
            <a:avLst/>
          </a:prstGeom>
          <a:solidFill>
            <a:srgbClr val="07121E"/>
          </a:solidFill>
          <a:ln w="508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915400" y="19659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8"/>
                </a:solidFill>
                <a:latin typeface="Calibri"/>
              </a:rPr>
              <a:t>🥗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72600" y="1920239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Calibri"/>
              </a:rPr>
              <a:t>NutriAgent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372600" y="2221991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0B8"/>
                </a:solidFill>
                <a:latin typeface="Calibri"/>
              </a:rPr>
              <a:t>Nutrizionisti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23960" y="2633472"/>
            <a:ext cx="2880360" cy="640080"/>
          </a:xfrm>
          <a:prstGeom prst="rect">
            <a:avLst/>
          </a:prstGeom>
          <a:solidFill>
            <a:srgbClr val="07121E"/>
          </a:solidFill>
          <a:ln w="508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915400" y="2724912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8"/>
                </a:solidFill>
                <a:latin typeface="Calibri"/>
              </a:rPr>
              <a:t>🏠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72600" y="2679191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9F1C"/>
                </a:solidFill>
                <a:latin typeface="Calibri"/>
              </a:rPr>
              <a:t>PropAgent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72600" y="2980944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0B8"/>
                </a:solidFill>
                <a:latin typeface="Calibri"/>
              </a:rPr>
              <a:t>Agenti immobiliari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823960" y="3392424"/>
            <a:ext cx="2880360" cy="640080"/>
          </a:xfrm>
          <a:prstGeom prst="rect">
            <a:avLst/>
          </a:prstGeom>
          <a:solidFill>
            <a:srgbClr val="07121E"/>
          </a:solidFill>
          <a:ln w="508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915400" y="3483864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8"/>
                </a:solidFill>
                <a:latin typeface="Calibri"/>
              </a:rPr>
              <a:t>⚖️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72600" y="3438144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Calibri"/>
              </a:rPr>
              <a:t>LegalAgent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72600" y="3739896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0B8"/>
                </a:solidFill>
                <a:latin typeface="Calibri"/>
              </a:rPr>
              <a:t>Avvocati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823960" y="4151375"/>
            <a:ext cx="2880360" cy="640080"/>
          </a:xfrm>
          <a:prstGeom prst="rect">
            <a:avLst/>
          </a:prstGeom>
          <a:solidFill>
            <a:srgbClr val="07121E"/>
          </a:solidFill>
          <a:ln w="5080">
            <a:solidFill>
              <a:srgbClr val="00A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915400" y="4242815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8"/>
                </a:solidFill>
                <a:latin typeface="Calibri"/>
              </a:rPr>
              <a:t>💪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72600" y="4197095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A0C4"/>
                </a:solidFill>
                <a:latin typeface="Calibri"/>
              </a:rPr>
              <a:t>FitAgent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72600" y="4498847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0B8"/>
                </a:solidFill>
                <a:latin typeface="Calibri"/>
              </a:rPr>
              <a:t>Personal Trainer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823960" y="4910327"/>
            <a:ext cx="2880360" cy="640080"/>
          </a:xfrm>
          <a:prstGeom prst="rect">
            <a:avLst/>
          </a:prstGeom>
          <a:solidFill>
            <a:srgbClr val="07121E"/>
          </a:solidFill>
          <a:ln w="508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915400" y="5001767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8"/>
                </a:solidFill>
                <a:latin typeface="Calibri"/>
              </a:rPr>
              <a:t>🏥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72600" y="4956047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6B"/>
                </a:solidFill>
                <a:latin typeface="Calibri"/>
              </a:rPr>
              <a:t>MedAgent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72600" y="5257799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0B8"/>
                </a:solidFill>
                <a:latin typeface="Calibri"/>
              </a:rPr>
              <a:t>Medici di base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823960" y="5669279"/>
            <a:ext cx="2880360" cy="640080"/>
          </a:xfrm>
          <a:prstGeom prst="rect">
            <a:avLst/>
          </a:prstGeom>
          <a:solidFill>
            <a:srgbClr val="07121E"/>
          </a:solidFill>
          <a:ln w="508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915400" y="5760719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F0F8"/>
                </a:solidFill>
                <a:latin typeface="Calibri"/>
              </a:rPr>
              <a:t>🧘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72600" y="5714999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  <a:latin typeface="Calibri"/>
              </a:rPr>
              <a:t>WellnessAgent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72600" y="6016751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AA0B8"/>
                </a:solidFill>
                <a:latin typeface="Calibri"/>
              </a:rPr>
              <a:t>Psicologi/Coach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188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FF"/>
                </a:solidFill>
                <a:latin typeface="Consolas"/>
              </a:rPr>
              <a:t>// FASE 9 — DEPLOY &amp; CI/CD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657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Vercel + Supabase Cloud + GitHub 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3566160" cy="5303520"/>
          </a:xfrm>
          <a:prstGeom prst="rect">
            <a:avLst/>
          </a:prstGeom>
          <a:solidFill>
            <a:srgbClr val="14283E"/>
          </a:solidFill>
          <a:ln w="889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56616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34416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onsolas"/>
              </a:rPr>
              <a:t>🌐 VERCEL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90195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D4FF"/>
                </a:solidFill>
                <a:latin typeface="Cambria"/>
              </a:rPr>
              <a:t>Frontend React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2286000"/>
            <a:ext cx="3337560" cy="777240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" y="2286000"/>
            <a:ext cx="36576" cy="777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450592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npm run build → dist/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3291840"/>
            <a:ext cx="3337560" cy="777240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5488" y="3291840"/>
            <a:ext cx="36576" cy="777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456432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Deploy automatico su git push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4297680"/>
            <a:ext cx="3337560" cy="777240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75488" y="4297680"/>
            <a:ext cx="36576" cy="777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462272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Env vars configurate su Vercel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" y="5303520"/>
            <a:ext cx="3337560" cy="777240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5488" y="5303520"/>
            <a:ext cx="36576" cy="777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5468112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Custom domain: nutriagent.ai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1325880"/>
            <a:ext cx="3566160" cy="5303520"/>
          </a:xfrm>
          <a:prstGeom prst="rect">
            <a:avLst/>
          </a:prstGeom>
          <a:solidFill>
            <a:srgbClr val="14283E"/>
          </a:solidFill>
          <a:ln w="889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97680" y="1325880"/>
            <a:ext cx="356616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07408" y="134416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onsolas"/>
              </a:rPr>
              <a:t>🗄 SUPABASE
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190195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2C39A"/>
                </a:solidFill>
                <a:latin typeface="Cambria"/>
              </a:rPr>
              <a:t>Backend &amp; Database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07408" y="2286000"/>
            <a:ext cx="3337560" cy="777240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407408" y="2286000"/>
            <a:ext cx="36576" cy="7772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26280" y="2450592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DB PostgreSQL hosted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07408" y="3291840"/>
            <a:ext cx="3337560" cy="777240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407408" y="3291840"/>
            <a:ext cx="36576" cy="7772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26280" y="3456432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Edge Functions (Deno)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07408" y="4297680"/>
            <a:ext cx="3337560" cy="777240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407408" y="4297680"/>
            <a:ext cx="36576" cy="7772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26280" y="4462272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Auth gestita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07408" y="5303520"/>
            <a:ext cx="3337560" cy="777240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407408" y="5303520"/>
            <a:ext cx="36576" cy="7772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26280" y="5468112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Storage file originali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1325880"/>
            <a:ext cx="3566160" cy="5303520"/>
          </a:xfrm>
          <a:prstGeom prst="rect">
            <a:avLst/>
          </a:prstGeom>
          <a:solidFill>
            <a:srgbClr val="14283E"/>
          </a:solidFill>
          <a:ln w="889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229600" y="1325880"/>
            <a:ext cx="3566160" cy="5029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39327" y="134416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2A"/>
                </a:solidFill>
                <a:latin typeface="Consolas"/>
              </a:rPr>
              <a:t>🔔 GITHUB
ACTIONS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7" y="190195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9F1C"/>
                </a:solidFill>
                <a:latin typeface="Cambria"/>
              </a:rPr>
              <a:t>CI/CD Pipeline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339327" y="2286000"/>
            <a:ext cx="3337560" cy="777240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339327" y="2286000"/>
            <a:ext cx="36576" cy="7772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58200" y="2450592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Push → test automatici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39327" y="3291840"/>
            <a:ext cx="3337560" cy="777240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339327" y="3291840"/>
            <a:ext cx="36576" cy="7772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58200" y="3456432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Build check frontend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39327" y="4297680"/>
            <a:ext cx="3337560" cy="777240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339327" y="4297680"/>
            <a:ext cx="36576" cy="7772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58200" y="4462272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Migration DB auto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39327" y="5303520"/>
            <a:ext cx="3337560" cy="777240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339327" y="5303520"/>
            <a:ext cx="36576" cy="7772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458200" y="5468112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0F8"/>
                </a:solidFill>
                <a:latin typeface="Calibri"/>
              </a:rPr>
              <a:t>Notify su Slack/email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6355080"/>
            <a:ext cx="11430000" cy="457200"/>
          </a:xfrm>
          <a:prstGeom prst="rect">
            <a:avLst/>
          </a:prstGeom>
          <a:solidFill>
            <a:srgbClr val="07121E"/>
          </a:solidFill>
          <a:ln w="6350">
            <a:solidFill>
              <a:srgbClr val="00A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65760" y="6355080"/>
            <a:ext cx="4572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2920" y="6464808"/>
            <a:ext cx="11201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</a:pPr>
            <a:r>
              <a:rPr sz="850">
                <a:solidFill>
                  <a:srgbClr val="8AA0B8"/>
                </a:solidFill>
                <a:latin typeface="Consolas"/>
              </a:rPr>
              <a:t># .github/workflows/deploy.yml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FFFF"/>
                </a:solidFill>
                <a:latin typeface="Consolas"/>
              </a:rPr>
              <a:t>on: push: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branches: [main]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FFFF"/>
                </a:solidFill>
                <a:latin typeface="Consolas"/>
              </a:rPr>
              <a:t>jobs: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deploy: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  runs-on: ubuntu-latest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steps: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0D4FF"/>
                </a:solidFill>
                <a:latin typeface="Consolas"/>
              </a:rPr>
              <a:t>      - uses: actions/checkout@v3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02C39A"/>
                </a:solidFill>
                <a:latin typeface="Consolas"/>
              </a:rPr>
              <a:t>      - run: npm ci &amp;&amp; npm test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F9F1C"/>
                </a:solidFill>
                <a:latin typeface="Consolas"/>
              </a:rPr>
              <a:t>      - run: supabase db push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E8F0F8"/>
                </a:solidFill>
                <a:latin typeface="Consolas"/>
              </a:rPr>
              <a:t>        env: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F5C518"/>
                </a:solidFill>
                <a:latin typeface="Consolas"/>
              </a:rPr>
              <a:t>          SUPABASE_ACCESS_TOKEN: ${{ secrets.SUPABASE_TOKEN }}</a:t>
            </a:r>
          </a:p>
          <a:p>
            <a:pPr>
              <a:spcAft>
                <a:spcPts val="100"/>
              </a:spcAft>
            </a:pPr>
            <a:r>
              <a:rPr sz="850">
                <a:solidFill>
                  <a:srgbClr val="8AA0B8"/>
                </a:solidFill>
                <a:latin typeface="Consolas"/>
              </a:rPr>
              <a:t>      # Vercel deploy è automatico via git push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1188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91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D4FF"/>
                </a:solidFill>
                <a:latin typeface="Consolas"/>
              </a:rPr>
              <a:t>//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657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MVP → Produzione → Scala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2743200" cy="5303520"/>
          </a:xfrm>
          <a:prstGeom prst="rect">
            <a:avLst/>
          </a:prstGeom>
          <a:solidFill>
            <a:srgbClr val="14283E"/>
          </a:solidFill>
          <a:ln w="889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2743200" cy="4572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" y="1344168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D1B2A"/>
                </a:solidFill>
                <a:latin typeface="Consolas"/>
              </a:rPr>
              <a:t>SETTIMANA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554480"/>
            <a:ext cx="2523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mbria"/>
              </a:rPr>
              <a:t>MVP 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1901952"/>
            <a:ext cx="2523744" cy="658368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" y="1901952"/>
            <a:ext cx="36576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04825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Setup repo + Vite + Tailwind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" y="2670048"/>
            <a:ext cx="2523744" cy="658368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" y="2670048"/>
            <a:ext cx="36576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28163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Supabase: auth + schema base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" y="3438144"/>
            <a:ext cx="2523744" cy="658368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9768" y="3438144"/>
            <a:ext cx="36576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58444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Claude API: chat engine base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" y="4206240"/>
            <a:ext cx="2523744" cy="658368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9768" y="4206240"/>
            <a:ext cx="36576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35254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Files API: upload + retrieval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" y="4974336"/>
            <a:ext cx="2523744" cy="658368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9768" y="4974336"/>
            <a:ext cx="36576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Admin panel: agente + upload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" y="5742432"/>
            <a:ext cx="2523744" cy="658368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9768" y="5742432"/>
            <a:ext cx="36576" cy="6583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588873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Chat widget pubblico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3749039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D4FF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80" y="1325880"/>
            <a:ext cx="2743200" cy="5303520"/>
          </a:xfrm>
          <a:prstGeom prst="rect">
            <a:avLst/>
          </a:prstGeom>
          <a:solidFill>
            <a:srgbClr val="14283E"/>
          </a:solidFill>
          <a:ln w="889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154680" y="1325880"/>
            <a:ext cx="2743200" cy="457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64408" y="1344168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D1B2A"/>
                </a:solidFill>
                <a:latin typeface="Consolas"/>
              </a:rPr>
              <a:t>SETTIMANA 3–4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64408" y="1554480"/>
            <a:ext cx="2523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mbria"/>
              </a:rPr>
              <a:t>Pagamenti &amp; Deploy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4408" y="1901952"/>
            <a:ext cx="2523744" cy="658368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264408" y="1901952"/>
            <a:ext cx="36576" cy="6583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83280" y="204825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Stripe: checkout + webhook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64408" y="2670048"/>
            <a:ext cx="2523744" cy="658368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264408" y="2670048"/>
            <a:ext cx="36576" cy="6583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83280" y="28163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Piani Starter / Pro / Studio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64408" y="3438144"/>
            <a:ext cx="2523744" cy="658368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264408" y="3438144"/>
            <a:ext cx="36576" cy="6583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83280" y="358444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Protezione route per piano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64408" y="4206240"/>
            <a:ext cx="2523744" cy="658368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64408" y="4206240"/>
            <a:ext cx="36576" cy="6583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83280" y="435254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Deploy Vercel + Supabase Cloud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64408" y="4974336"/>
            <a:ext cx="2523744" cy="658368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3264408" y="4974336"/>
            <a:ext cx="36576" cy="6583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383280" y="512064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Custom domain + SSL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64408" y="5742432"/>
            <a:ext cx="2523744" cy="658368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264408" y="5742432"/>
            <a:ext cx="36576" cy="65836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383280" y="588873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Test E2E + fix bug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97880" y="3749039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2C39A"/>
                </a:solidFill>
                <a:latin typeface="Calibri"/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89320" y="1325880"/>
            <a:ext cx="2743200" cy="5303520"/>
          </a:xfrm>
          <a:prstGeom prst="rect">
            <a:avLst/>
          </a:prstGeom>
          <a:solidFill>
            <a:srgbClr val="14283E"/>
          </a:solidFill>
          <a:ln w="8890">
            <a:solidFill>
              <a:srgbClr val="FF9F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5989320" y="1325880"/>
            <a:ext cx="2743200" cy="4572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099048" y="1344168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D1B2A"/>
                </a:solidFill>
                <a:latin typeface="Consolas"/>
              </a:rPr>
              <a:t>MESE 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99048" y="1554480"/>
            <a:ext cx="2523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mbria"/>
              </a:rPr>
              <a:t>Ottimizzazione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99048" y="1901952"/>
            <a:ext cx="2523744" cy="658368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099048" y="1901952"/>
            <a:ext cx="36576" cy="65836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17920" y="204825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Analytics conversazioni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99048" y="2670048"/>
            <a:ext cx="2523744" cy="658368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099048" y="2670048"/>
            <a:ext cx="36576" cy="65836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17920" y="28163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Widget embed per siti web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99048" y="3438144"/>
            <a:ext cx="2523744" cy="658368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099048" y="3438144"/>
            <a:ext cx="36576" cy="65836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217920" y="358444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Notifiche email automatiche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99048" y="4206240"/>
            <a:ext cx="2523744" cy="658368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099048" y="4206240"/>
            <a:ext cx="36576" cy="65836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217920" y="435254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Onboarding guidato step-by-step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99048" y="4974336"/>
            <a:ext cx="2523744" cy="658368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099048" y="4974336"/>
            <a:ext cx="36576" cy="65836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217920" y="512064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A/B test system prompts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99048" y="5742432"/>
            <a:ext cx="2523744" cy="658368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6099048" y="5742432"/>
            <a:ext cx="36576" cy="65836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217920" y="588873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Mobile responsive completo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32520" y="3749039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9F1C"/>
                </a:solidFill>
                <a:latin typeface="Calibri"/>
              </a:rPr>
              <a:t>→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823960" y="1325880"/>
            <a:ext cx="2743200" cy="5303520"/>
          </a:xfrm>
          <a:prstGeom prst="rect">
            <a:avLst/>
          </a:prstGeom>
          <a:solidFill>
            <a:srgbClr val="14283E"/>
          </a:solidFill>
          <a:ln w="889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8823960" y="1325880"/>
            <a:ext cx="2743200" cy="4572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933688" y="1344168"/>
            <a:ext cx="25237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D1B2A"/>
                </a:solidFill>
                <a:latin typeface="Consolas"/>
              </a:rPr>
              <a:t>MESE 3+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933688" y="1554480"/>
            <a:ext cx="25237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mbria"/>
              </a:rPr>
              <a:t>Scala &amp; Nuovi Verticali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933688" y="1901952"/>
            <a:ext cx="2523744" cy="658368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8933688" y="1901952"/>
            <a:ext cx="36576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052560" y="204825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Nuovi verticali (avvocati, PT...)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933688" y="2670048"/>
            <a:ext cx="2523744" cy="658368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933688" y="2670048"/>
            <a:ext cx="36576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9052560" y="28163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Multi-lingua agenti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33688" y="3438144"/>
            <a:ext cx="2523744" cy="658368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8933688" y="3438144"/>
            <a:ext cx="36576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052560" y="358444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Integrazione WhatsApp Business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33688" y="4206240"/>
            <a:ext cx="2523744" cy="658368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8933688" y="4206240"/>
            <a:ext cx="36576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052560" y="435254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Dashboard analitica avanzata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933688" y="4974336"/>
            <a:ext cx="2523744" cy="658368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8933688" y="4974336"/>
            <a:ext cx="36576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052560" y="512064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API pubblica per integrazioni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33688" y="5742432"/>
            <a:ext cx="2523744" cy="658368"/>
          </a:xfrm>
          <a:prstGeom prst="rect">
            <a:avLst/>
          </a:prstGeom>
          <a:solidFill>
            <a:srgbClr val="07121E"/>
          </a:solidFill>
          <a:ln w="3810">
            <a:solidFill>
              <a:srgbClr val="1E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8933688" y="5742432"/>
            <a:ext cx="36576" cy="6583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052560" y="588873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Marketplace agenti pre-configurati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onsolas"/>
              </a:rPr>
              <a:t>//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mbria"/>
              </a:rPr>
              <a:t>Un framework.
</a:t>
            </a:r>
          </a:p>
          <a:p>
            <a:r>
              <a:rPr sz="3600" b="1" i="1">
                <a:solidFill>
                  <a:srgbClr val="00D4FF"/>
                </a:solidFill>
                <a:latin typeface="Cambria"/>
              </a:rPr>
              <a:t>Infiniti prodotti.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0175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0B8"/>
                </a:solidFill>
                <a:latin typeface="Calibri"/>
              </a:rPr>
              <a:t>Costruisci il core una volta. Adattalo a ogni settore professionale cambiando solo la configurazione verticale.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02336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mbria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05993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8"/>
                </a:solidFill>
                <a:latin typeface="Calibri"/>
              </a:rPr>
              <a:t>React + Supabase + Claude + Stripe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498848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mbria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53542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8"/>
                </a:solidFill>
                <a:latin typeface="Calibri"/>
              </a:rPr>
              <a:t>RAG via Anthropic Files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974336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mbria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0109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8"/>
                </a:solidFill>
                <a:latin typeface="Calibri"/>
              </a:rPr>
              <a:t>Multi-tenant con RLS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449824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mbria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4864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8"/>
                </a:solidFill>
                <a:latin typeface="Calibri"/>
              </a:rPr>
              <a:t>Deploy su Vercel in &lt;1 ora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925312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  <a:latin typeface="Cambri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96188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F0F8"/>
                </a:solidFill>
                <a:latin typeface="Calibri"/>
              </a:rPr>
              <a:t>Nuovi verticali in 2-3 giorni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731520"/>
            <a:ext cx="5166360" cy="5394960"/>
          </a:xfrm>
          <a:prstGeom prst="rect">
            <a:avLst/>
          </a:prstGeom>
          <a:solidFill>
            <a:srgbClr val="07121E"/>
          </a:solidFill>
          <a:ln w="6350">
            <a:solidFill>
              <a:srgbClr val="00A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0" y="822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  <a:latin typeface="Consolas"/>
              </a:rPr>
              <a:t>// STACK COMPLETO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1261872"/>
            <a:ext cx="4892040" cy="347472"/>
          </a:xfrm>
          <a:prstGeom prst="rect">
            <a:avLst/>
          </a:prstGeom>
          <a:solidFill>
            <a:srgbClr val="0A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03720" y="130759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  <a:latin typeface="Consolas"/>
              </a:rPr>
              <a:t>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30759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React 18 · Vite · Tailwind CSS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12280" y="1645919"/>
            <a:ext cx="4892040" cy="347472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03720" y="169163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D4FF"/>
                </a:solidFill>
                <a:latin typeface="Consolas"/>
              </a:rPr>
              <a:t>ROUTING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1691639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React Router v6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12280" y="2029967"/>
            <a:ext cx="4892040" cy="347472"/>
          </a:xfrm>
          <a:prstGeom prst="rect">
            <a:avLst/>
          </a:prstGeom>
          <a:solidFill>
            <a:srgbClr val="0A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03720" y="2075687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2C39A"/>
                </a:solidFill>
                <a:latin typeface="Consolas"/>
              </a:rPr>
              <a:t>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075687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Claude Sonnet 4 (Anthropic)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2280" y="2414015"/>
            <a:ext cx="4892040" cy="347472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03720" y="245973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2C39A"/>
                </a:solidFill>
                <a:latin typeface="Consolas"/>
              </a:rPr>
              <a:t>FILES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459735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Anthropic Files API (RAG)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12280" y="2798063"/>
            <a:ext cx="4892040" cy="347472"/>
          </a:xfrm>
          <a:prstGeom prst="rect">
            <a:avLst/>
          </a:prstGeom>
          <a:solidFill>
            <a:srgbClr val="0A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03720" y="2843783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9F1C"/>
                </a:solidFill>
                <a:latin typeface="Consolas"/>
              </a:rPr>
              <a:t>AUTH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843783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Supabase Auth (JWT)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12280" y="3182112"/>
            <a:ext cx="4892040" cy="347472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03720" y="322783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9F1C"/>
                </a:solidFill>
                <a:latin typeface="Consolas"/>
              </a:rPr>
              <a:t>DATABASE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22783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Supabase PostgreSQL + pgvector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12280" y="3566160"/>
            <a:ext cx="4892040" cy="347472"/>
          </a:xfrm>
          <a:prstGeom prst="rect">
            <a:avLst/>
          </a:prstGeom>
          <a:solidFill>
            <a:srgbClr val="0A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03720" y="361187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9F1C"/>
                </a:solidFill>
                <a:latin typeface="Consolas"/>
              </a:rPr>
              <a:t>STORAGE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3611879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Supabase Storage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12280" y="3950208"/>
            <a:ext cx="4892040" cy="347472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03720" y="39959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C518"/>
                </a:solidFill>
                <a:latin typeface="Consolas"/>
              </a:rPr>
              <a:t>FUNCTIONS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3995928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Supabase Edge Functions (Deno)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12280" y="4334256"/>
            <a:ext cx="4892040" cy="347472"/>
          </a:xfrm>
          <a:prstGeom prst="rect">
            <a:avLst/>
          </a:prstGeom>
          <a:solidFill>
            <a:srgbClr val="0A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903720" y="43799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5C518"/>
                </a:solidFill>
                <a:latin typeface="Consolas"/>
              </a:rPr>
              <a:t>PAYMENTS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4379976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Stripe Subscriptions + Webhooks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12280" y="4718304"/>
            <a:ext cx="4892040" cy="347472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903720" y="476402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A0C4"/>
                </a:solidFill>
                <a:latin typeface="Consolas"/>
              </a:rPr>
              <a:t>DEPLOY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4764024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Vercel (frontend) + Supabase Cloud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12280" y="5102352"/>
            <a:ext cx="4892040" cy="347472"/>
          </a:xfrm>
          <a:prstGeom prst="rect">
            <a:avLst/>
          </a:prstGeom>
          <a:solidFill>
            <a:srgbClr val="0A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903720" y="51480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A0C4"/>
                </a:solidFill>
                <a:latin typeface="Consolas"/>
              </a:rPr>
              <a:t>CI/CD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5148072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GitHub Actions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12280" y="5486400"/>
            <a:ext cx="4892040" cy="347472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903720" y="55321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AA0B8"/>
                </a:solidFill>
                <a:latin typeface="Consolas"/>
              </a:rPr>
              <a:t>MONITORING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55321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0F8"/>
                </a:solidFill>
                <a:latin typeface="Calibri"/>
              </a:rPr>
              <a:t>Vercel Analytics + Sentry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0" y="635508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A6078"/>
                </a:solidFill>
                <a:latin typeface="Consolas"/>
              </a:rPr>
              <a:t>AgentForge Framework  ·  v1.0  ·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2691</Words>
  <Application>Microsoft Office PowerPoint</Application>
  <PresentationFormat>Custom</PresentationFormat>
  <Paragraphs>564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Fabio Fontana</dc:creator>
  <cp:keywords/>
  <dc:description>generated using python-pptx</dc:description>
  <cp:lastModifiedBy>Fabio Fontana</cp:lastModifiedBy>
  <cp:revision>1</cp:revision>
  <dcterms:created xsi:type="dcterms:W3CDTF">2013-01-27T09:14:16Z</dcterms:created>
  <dcterms:modified xsi:type="dcterms:W3CDTF">2026-03-07T18:01:56Z</dcterms:modified>
  <cp:category/>
</cp:coreProperties>
</file>